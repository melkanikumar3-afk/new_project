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47"/>
  </p:notesMasterIdLst>
  <p:sldIdLst>
    <p:sldId id="256" r:id="rId2"/>
    <p:sldId id="424" r:id="rId3"/>
    <p:sldId id="294" r:id="rId4"/>
    <p:sldId id="293" r:id="rId5"/>
    <p:sldId id="436" r:id="rId6"/>
    <p:sldId id="441" r:id="rId7"/>
    <p:sldId id="437" r:id="rId8"/>
    <p:sldId id="439" r:id="rId9"/>
    <p:sldId id="430" r:id="rId10"/>
    <p:sldId id="431" r:id="rId11"/>
    <p:sldId id="442" r:id="rId12"/>
    <p:sldId id="443" r:id="rId13"/>
    <p:sldId id="444" r:id="rId14"/>
    <p:sldId id="445" r:id="rId15"/>
    <p:sldId id="446" r:id="rId16"/>
    <p:sldId id="447" r:id="rId17"/>
    <p:sldId id="448" r:id="rId18"/>
    <p:sldId id="454" r:id="rId19"/>
    <p:sldId id="455" r:id="rId20"/>
    <p:sldId id="456" r:id="rId21"/>
    <p:sldId id="457" r:id="rId22"/>
    <p:sldId id="458" r:id="rId23"/>
    <p:sldId id="459" r:id="rId24"/>
    <p:sldId id="460" r:id="rId25"/>
    <p:sldId id="449" r:id="rId26"/>
    <p:sldId id="450" r:id="rId27"/>
    <p:sldId id="451" r:id="rId28"/>
    <p:sldId id="452" r:id="rId29"/>
    <p:sldId id="453" r:id="rId30"/>
    <p:sldId id="468" r:id="rId31"/>
    <p:sldId id="469" r:id="rId32"/>
    <p:sldId id="432" r:id="rId33"/>
    <p:sldId id="433" r:id="rId34"/>
    <p:sldId id="461" r:id="rId35"/>
    <p:sldId id="462" r:id="rId36"/>
    <p:sldId id="463" r:id="rId37"/>
    <p:sldId id="464" r:id="rId38"/>
    <p:sldId id="466" r:id="rId39"/>
    <p:sldId id="467" r:id="rId40"/>
    <p:sldId id="438" r:id="rId41"/>
    <p:sldId id="465" r:id="rId42"/>
    <p:sldId id="434" r:id="rId43"/>
    <p:sldId id="435" r:id="rId44"/>
    <p:sldId id="440" r:id="rId45"/>
    <p:sldId id="409" r:id="rId4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6" d="100"/>
          <a:sy n="116" d="100"/>
        </p:scale>
        <p:origin x="108" y="474"/>
      </p:cViewPr>
      <p:guideLst>
        <p:guide orient="horz" pos="2160"/>
        <p:guide pos="2880"/>
        <p:guide orient="horz" pos="162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1D274C-1259-4013-9B43-3338ADE00CB9}" type="datetimeFigureOut">
              <a:rPr lang="en-US" smtClean="0"/>
              <a:pPr/>
              <a:t>12/9/2025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ABDC54-E87D-48A5-B08C-C4028BFC479E}" type="slidenum">
              <a:rPr lang="en-US" smtClean="0"/>
              <a:pPr/>
              <a:t>‹#›</a:t>
            </a:fld>
            <a:endParaRPr lang="en-US"/>
          </a:p>
        </p:txBody>
      </p:sp>
    </p:spTree>
    <p:extLst>
      <p:ext uri="{BB962C8B-B14F-4D97-AF65-F5344CB8AC3E}">
        <p14:creationId xmlns:p14="http://schemas.microsoft.com/office/powerpoint/2010/main" val="152143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3200" b="1">
                <a:solidFill>
                  <a:schemeClr val="accent4">
                    <a:lumMod val="75000"/>
                  </a:schemeClr>
                </a:solidFill>
                <a:effectLst>
                  <a:outerShdw blurRad="31750" dist="25400" dir="5400000" algn="tl" rotWithShape="0">
                    <a:srgbClr val="000000">
                      <a:alpha val="25000"/>
                    </a:srgbClr>
                  </a:outerShdw>
                </a:effectLst>
              </a:defRPr>
            </a:lvl1pPr>
            <a:extLst/>
          </a:lstStyle>
          <a:p>
            <a:r>
              <a:rPr kumimoji="0" lang="en-US" dirty="0"/>
              <a:t>Click to edit Master title style</a:t>
            </a:r>
          </a:p>
        </p:txBody>
      </p:sp>
      <p:sp>
        <p:nvSpPr>
          <p:cNvPr id="17" name="Subtitle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3714750"/>
            <a:ext cx="9147765" cy="1434066"/>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a:xfrm>
            <a:off x="6727032" y="4805958"/>
            <a:ext cx="1920240" cy="274320"/>
          </a:xfrm>
          <a:prstGeom prst="rect">
            <a:avLst/>
          </a:prstGeom>
        </p:spPr>
        <p:txBody>
          <a:bodyPr/>
          <a:lstStyle>
            <a:lvl1pPr>
              <a:defRPr>
                <a:solidFill>
                  <a:srgbClr val="FFFFFF"/>
                </a:solidFill>
              </a:defRPr>
            </a:lvl1pPr>
            <a:extLst/>
          </a:lstStyle>
          <a:p>
            <a:fld id="{AFEED065-0664-473B-A2A9-FDD2F613F4A9}" type="datetimeFigureOut">
              <a:rPr lang="en-US" smtClean="0"/>
              <a:pPr/>
              <a:t>12/9/2025</a:t>
            </a:fld>
            <a:endParaRPr lang="en-US"/>
          </a:p>
        </p:txBody>
      </p:sp>
      <p:sp>
        <p:nvSpPr>
          <p:cNvPr id="19" name="Footer Placeholder 18"/>
          <p:cNvSpPr>
            <a:spLocks noGrp="1"/>
          </p:cNvSpPr>
          <p:nvPr>
            <p:ph type="ftr" sz="quarter" idx="11"/>
          </p:nvPr>
        </p:nvSpPr>
        <p:spPr>
          <a:xfrm>
            <a:off x="4380073" y="4805958"/>
            <a:ext cx="2350681" cy="273844"/>
          </a:xfrm>
          <a:prstGeom prst="rect">
            <a:avLst/>
          </a:prstGeom>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a:xfrm>
            <a:off x="8647272" y="4805958"/>
            <a:ext cx="365760" cy="273844"/>
          </a:xfrm>
          <a:prstGeom prst="rect">
            <a:avLst/>
          </a:prstGeom>
        </p:spPr>
        <p:txBody>
          <a:bodyPr/>
          <a:lstStyle>
            <a:lvl1pPr>
              <a:defRPr>
                <a:solidFill>
                  <a:srgbClr val="FFFFFF"/>
                </a:solidFill>
              </a:defRPr>
            </a:lvl1pPr>
            <a:extLst/>
          </a:lstStyle>
          <a:p>
            <a:fld id="{092C2EA7-927C-40AA-B0BE-290C8E9BB11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000">
                <a:solidFill>
                  <a:schemeClr val="accent4">
                    <a:lumMod val="75000"/>
                  </a:schemeClr>
                </a:solidFill>
              </a:defRPr>
            </a:lvl1pPr>
            <a:lvl2pPr>
              <a:defRPr sz="2000">
                <a:solidFill>
                  <a:schemeClr val="accent4">
                    <a:lumMod val="75000"/>
                  </a:schemeClr>
                </a:solidFill>
              </a:defRPr>
            </a:lvl2pPr>
            <a:lvl3pPr>
              <a:defRPr sz="2000">
                <a:solidFill>
                  <a:schemeClr val="accent4">
                    <a:lumMod val="75000"/>
                  </a:schemeClr>
                </a:solidFill>
              </a:defRPr>
            </a:lvl3pPr>
            <a:lvl4pPr>
              <a:defRPr sz="2000">
                <a:solidFill>
                  <a:schemeClr val="accent4">
                    <a:lumMod val="75000"/>
                  </a:schemeClr>
                </a:solidFill>
              </a:defRPr>
            </a:lvl4pPr>
            <a:lvl5pPr>
              <a:defRPr sz="2000">
                <a:solidFill>
                  <a:schemeClr val="accent4">
                    <a:lumMod val="75000"/>
                  </a:schemeClr>
                </a:solidFill>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5" name="Footer Placeholder 4"/>
          <p:cNvSpPr>
            <a:spLocks noGrp="1"/>
          </p:cNvSpPr>
          <p:nvPr>
            <p:ph type="ftr" sz="quarter" idx="11"/>
          </p:nvPr>
        </p:nvSpPr>
        <p:spPr>
          <a:xfrm>
            <a:off x="4380073" y="4805958"/>
            <a:ext cx="2350681" cy="273844"/>
          </a:xfrm>
          <a:prstGeom prst="rect">
            <a:avLst/>
          </a:prstGeom>
        </p:spPr>
        <p:txBody>
          <a:bodyPr/>
          <a:lstStyle/>
          <a:p>
            <a:r>
              <a:rPr lang="en-US" dirty="0"/>
              <a:t>CDAC, NOIDA, India</a:t>
            </a:r>
          </a:p>
        </p:txBody>
      </p:sp>
      <p:sp>
        <p:nvSpPr>
          <p:cNvPr id="6" name="Slide Number Placeholder 5"/>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
        <p:nvSpPr>
          <p:cNvPr id="7" name="Title 6"/>
          <p:cNvSpPr>
            <a:spLocks noGrp="1"/>
          </p:cNvSpPr>
          <p:nvPr>
            <p:ph type="title"/>
          </p:nvPr>
        </p:nvSpPr>
        <p:spPr/>
        <p:txBody>
          <a:bodyPr rtlCol="0">
            <a:normAutofit/>
          </a:bodyPr>
          <a:lstStyle>
            <a:lvl1pPr>
              <a:defRPr sz="3200">
                <a:solidFill>
                  <a:schemeClr val="accent4">
                    <a:lumMod val="75000"/>
                  </a:schemeClr>
                </a:solidFill>
                <a:effectLst>
                  <a:outerShdw blurRad="38100" dist="38100" dir="2700000" algn="tl">
                    <a:srgbClr val="000000">
                      <a:alpha val="43137"/>
                    </a:srgbClr>
                  </a:outerShdw>
                </a:effectLst>
              </a:defRPr>
            </a:lvl1pPr>
          </a:lstStyle>
          <a:p>
            <a:r>
              <a:rPr kumimoji="0" lang="en-US" dirty="0"/>
              <a:t>Click to edit Master title style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2">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3">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4">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 lvl="5">
            <p:tnLst>
              <p:par>
                <p:cTn presetID="2" presetClass="entr" presetSubtype="8"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0-#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5" name="Footer Placeholder 4"/>
          <p:cNvSpPr>
            <a:spLocks noGrp="1"/>
          </p:cNvSpPr>
          <p:nvPr>
            <p:ph type="ftr" sz="quarter" idx="11"/>
          </p:nvPr>
        </p:nvSpPr>
        <p:spPr>
          <a:xfrm>
            <a:off x="4380073" y="4805958"/>
            <a:ext cx="2350681"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6" name="Footer Placeholder 5"/>
          <p:cNvSpPr>
            <a:spLocks noGrp="1"/>
          </p:cNvSpPr>
          <p:nvPr>
            <p:ph type="ftr" sz="quarter" idx="11"/>
          </p:nvPr>
        </p:nvSpPr>
        <p:spPr>
          <a:xfrm>
            <a:off x="4380073" y="4805958"/>
            <a:ext cx="2350681"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8"/>
            <a:ext cx="8229600" cy="85725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8" name="Footer Placeholder 7"/>
          <p:cNvSpPr>
            <a:spLocks noGrp="1"/>
          </p:cNvSpPr>
          <p:nvPr>
            <p:ph type="ftr" sz="quarter" idx="11"/>
          </p:nvPr>
        </p:nvSpPr>
        <p:spPr>
          <a:xfrm>
            <a:off x="4380073" y="4805958"/>
            <a:ext cx="2350681" cy="273844"/>
          </a:xfrm>
          <a:prstGeom prst="rect">
            <a:avLst/>
          </a:prstGeom>
        </p:spPr>
        <p:txBody>
          <a:bodyPr/>
          <a:lstStyle/>
          <a:p>
            <a:endParaRPr lang="en-US"/>
          </a:p>
        </p:txBody>
      </p:sp>
      <p:sp>
        <p:nvSpPr>
          <p:cNvPr id="9" name="Slide Number Placeholder 8"/>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4" name="Footer Placeholder 3"/>
          <p:cNvSpPr>
            <a:spLocks noGrp="1"/>
          </p:cNvSpPr>
          <p:nvPr>
            <p:ph type="ftr" sz="quarter" idx="11"/>
          </p:nvPr>
        </p:nvSpPr>
        <p:spPr>
          <a:xfrm>
            <a:off x="4380073" y="4805958"/>
            <a:ext cx="2350681" cy="273844"/>
          </a:xfrm>
          <a:prstGeom prst="rect">
            <a:avLst/>
          </a:prstGeom>
        </p:spPr>
        <p:txBody>
          <a:bodyPr/>
          <a:lstStyle/>
          <a:p>
            <a:endParaRPr lang="en-US"/>
          </a:p>
        </p:txBody>
      </p:sp>
      <p:sp>
        <p:nvSpPr>
          <p:cNvPr id="5" name="Slide Number Placeholder 4"/>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3" name="Footer Placeholder 2"/>
          <p:cNvSpPr>
            <a:spLocks noGrp="1"/>
          </p:cNvSpPr>
          <p:nvPr>
            <p:ph type="ftr" sz="quarter" idx="11"/>
          </p:nvPr>
        </p:nvSpPr>
        <p:spPr>
          <a:xfrm>
            <a:off x="4380073" y="4805958"/>
            <a:ext cx="2350681" cy="273844"/>
          </a:xfrm>
          <a:prstGeom prst="rect">
            <a:avLst/>
          </a:prstGeom>
        </p:spPr>
        <p:txBody>
          <a:bodyPr/>
          <a:lstStyle/>
          <a:p>
            <a:endParaRPr lang="en-US"/>
          </a:p>
        </p:txBody>
      </p:sp>
      <p:sp>
        <p:nvSpPr>
          <p:cNvPr id="4" name="Slide Number Placeholder 3"/>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6" name="Footer Placeholder 5"/>
          <p:cNvSpPr>
            <a:spLocks noGrp="1"/>
          </p:cNvSpPr>
          <p:nvPr>
            <p:ph type="ftr" sz="quarter" idx="11"/>
          </p:nvPr>
        </p:nvSpPr>
        <p:spPr>
          <a:xfrm>
            <a:off x="4380073" y="4805958"/>
            <a:ext cx="2350681" cy="273844"/>
          </a:xfrm>
          <a:prstGeom prst="rect">
            <a:avLst/>
          </a:prstGeom>
        </p:spPr>
        <p:txBody>
          <a:bodyPr/>
          <a:lstStyle/>
          <a:p>
            <a:endParaRPr lang="en-US"/>
          </a:p>
        </p:txBody>
      </p:sp>
      <p:sp>
        <p:nvSpPr>
          <p:cNvPr id="7" name="Slide Number Placeholder 6"/>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a:xfrm>
            <a:off x="6727032" y="4805958"/>
            <a:ext cx="1920240" cy="274320"/>
          </a:xfrm>
          <a:prstGeom prst="rect">
            <a:avLst/>
          </a:prstGeom>
        </p:spPr>
        <p:txBody>
          <a:bodyPr/>
          <a:lstStyle>
            <a:lvl1pPr>
              <a:defRPr>
                <a:solidFill>
                  <a:schemeClr val="tx1"/>
                </a:solidFill>
              </a:defRPr>
            </a:lvl1pPr>
            <a:extLst/>
          </a:lstStyle>
          <a:p>
            <a:fld id="{AFEED065-0664-473B-A2A9-FDD2F613F4A9}" type="datetimeFigureOut">
              <a:rPr lang="en-US" smtClean="0"/>
              <a:pPr/>
              <a:t>12/9/2025</a:t>
            </a:fld>
            <a:endParaRPr lang="en-US"/>
          </a:p>
        </p:txBody>
      </p:sp>
      <p:sp>
        <p:nvSpPr>
          <p:cNvPr id="6" name="Footer Placeholder 5"/>
          <p:cNvSpPr>
            <a:spLocks noGrp="1"/>
          </p:cNvSpPr>
          <p:nvPr>
            <p:ph type="ftr" sz="quarter" idx="11"/>
          </p:nvPr>
        </p:nvSpPr>
        <p:spPr>
          <a:xfrm>
            <a:off x="4380073" y="4805958"/>
            <a:ext cx="2350681" cy="273844"/>
          </a:xfrm>
          <a:prstGeom prst="rect">
            <a:avLst/>
          </a:prstGeo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a:xfrm>
            <a:off x="8647272" y="4805958"/>
            <a:ext cx="365760" cy="273844"/>
          </a:xfrm>
          <a:prstGeom prst="rect">
            <a:avLst/>
          </a:prstGeom>
        </p:spPr>
        <p:txBody>
          <a:bodyPr/>
          <a:lstStyle>
            <a:lvl1pPr>
              <a:defRPr>
                <a:solidFill>
                  <a:schemeClr val="tx1"/>
                </a:solidFill>
              </a:defRPr>
            </a:lvl1pPr>
            <a:extLst/>
          </a:lstStyle>
          <a:p>
            <a:fld id="{092C2EA7-927C-40AA-B0BE-290C8E9BB113}" type="slidenum">
              <a:rPr lang="en-US" smtClean="0"/>
              <a:pPr/>
              <a:t>‹#›</a:t>
            </a:fld>
            <a:endParaRPr lang="en-US"/>
          </a:p>
        </p:txBody>
      </p:sp>
      <p:sp>
        <p:nvSpPr>
          <p:cNvPr id="2" name="Titl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7"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110997"/>
            <a:ext cx="8229600" cy="328955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5" name="Footer Placeholder 4"/>
          <p:cNvSpPr>
            <a:spLocks noGrp="1"/>
          </p:cNvSpPr>
          <p:nvPr>
            <p:ph type="ftr" sz="quarter" idx="11"/>
          </p:nvPr>
        </p:nvSpPr>
        <p:spPr>
          <a:xfrm>
            <a:off x="4380073" y="4805958"/>
            <a:ext cx="2350681"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05980"/>
            <a:ext cx="1777470" cy="419457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05981"/>
            <a:ext cx="6324600" cy="419457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727032" y="4805958"/>
            <a:ext cx="1920240" cy="274320"/>
          </a:xfrm>
          <a:prstGeom prst="rect">
            <a:avLst/>
          </a:prstGeom>
        </p:spPr>
        <p:txBody>
          <a:bodyPr/>
          <a:lstStyle/>
          <a:p>
            <a:fld id="{AFEED065-0664-473B-A2A9-FDD2F613F4A9}" type="datetimeFigureOut">
              <a:rPr lang="en-US" smtClean="0"/>
              <a:pPr/>
              <a:t>12/9/2025</a:t>
            </a:fld>
            <a:endParaRPr lang="en-US"/>
          </a:p>
        </p:txBody>
      </p:sp>
      <p:sp>
        <p:nvSpPr>
          <p:cNvPr id="5" name="Footer Placeholder 4"/>
          <p:cNvSpPr>
            <a:spLocks noGrp="1"/>
          </p:cNvSpPr>
          <p:nvPr>
            <p:ph type="ftr" sz="quarter" idx="11"/>
          </p:nvPr>
        </p:nvSpPr>
        <p:spPr>
          <a:xfrm>
            <a:off x="4380073" y="4805958"/>
            <a:ext cx="2350681" cy="273844"/>
          </a:xfrm>
          <a:prstGeom prst="rect">
            <a:avLst/>
          </a:prstGeom>
        </p:spPr>
        <p:txBody>
          <a:bodyPr/>
          <a:lstStyle/>
          <a:p>
            <a:endParaRPr lang="en-US"/>
          </a:p>
        </p:txBody>
      </p:sp>
      <p:sp>
        <p:nvSpPr>
          <p:cNvPr id="6" name="Slide Number Placeholder 5"/>
          <p:cNvSpPr>
            <a:spLocks noGrp="1"/>
          </p:cNvSpPr>
          <p:nvPr>
            <p:ph type="sldNum" sz="quarter" idx="12"/>
          </p:nvPr>
        </p:nvSpPr>
        <p:spPr>
          <a:xfrm>
            <a:off x="8647272" y="4805958"/>
            <a:ext cx="365760" cy="273844"/>
          </a:xfrm>
          <a:prstGeom prst="rect">
            <a:avLst/>
          </a:prstGeom>
        </p:spPr>
        <p:txBody>
          <a:bodyPr/>
          <a:lstStyle/>
          <a:p>
            <a:fld id="{092C2EA7-927C-40AA-B0BE-290C8E9BB11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5614">
              <a:srgbClr val="E1F4F8"/>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circle">
            <a:fillToRect l="100000" t="100000"/>
          </a:path>
          <a:tileRect/>
        </a:gra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7"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4343440"/>
            <a:ext cx="3402314" cy="810651"/>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p>
            <a:r>
              <a:rPr kumimoji="0" lang="en-US" dirty="0"/>
              <a:t>Click to edit Master title style</a:t>
            </a:r>
          </a:p>
        </p:txBody>
      </p:sp>
      <p:sp>
        <p:nvSpPr>
          <p:cNvPr id="30" name="Text Placeholder 29"/>
          <p:cNvSpPr>
            <a:spLocks noGrp="1"/>
          </p:cNvSpPr>
          <p:nvPr>
            <p:ph type="body" idx="1"/>
          </p:nvPr>
        </p:nvSpPr>
        <p:spPr>
          <a:xfrm>
            <a:off x="457200" y="1110997"/>
            <a:ext cx="8229600" cy="3394472"/>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pic>
        <p:nvPicPr>
          <p:cNvPr id="3" name="Picture 2" descr="A picture containing text&#10;&#10;Description automatically generated">
            <a:extLst>
              <a:ext uri="{FF2B5EF4-FFF2-40B4-BE49-F238E27FC236}">
                <a16:creationId xmlns:a16="http://schemas.microsoft.com/office/drawing/2014/main" id="{4F9BDD57-960E-4EC7-9E76-D8318599EF62}"/>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53854"/>
            <a:ext cx="1066667" cy="1057143"/>
          </a:xfrm>
          <a:prstGeom prst="rect">
            <a:avLst/>
          </a:prstGeom>
        </p:spPr>
      </p:pic>
      <p:pic>
        <p:nvPicPr>
          <p:cNvPr id="5" name="Picture 4" descr="Text&#10;&#10;Description automatically generated">
            <a:extLst>
              <a:ext uri="{FF2B5EF4-FFF2-40B4-BE49-F238E27FC236}">
                <a16:creationId xmlns:a16="http://schemas.microsoft.com/office/drawing/2014/main" id="{4083141A-E319-48E0-8381-7CC7B354E5CB}"/>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7299957" y="85176"/>
            <a:ext cx="1386843" cy="758954"/>
          </a:xfrm>
          <a:prstGeom prst="rect">
            <a:avLst/>
          </a:prstGeom>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rtl="0" eaLnBrk="1" latinLnBrk="0" hangingPunct="1">
        <a:spcBef>
          <a:spcPct val="0"/>
        </a:spcBef>
        <a:buNone/>
        <a:defRPr kumimoji="0" sz="3200" b="1" kern="1200">
          <a:solidFill>
            <a:schemeClr val="accent4">
              <a:lumMod val="75000"/>
            </a:schemeClr>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000" kern="1200">
          <a:solidFill>
            <a:schemeClr val="accent4">
              <a:lumMod val="75000"/>
            </a:schemeClr>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000" kern="1200">
          <a:solidFill>
            <a:schemeClr val="accent4">
              <a:lumMod val="75000"/>
            </a:schemeClr>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000" kern="1200">
          <a:solidFill>
            <a:schemeClr val="accent4">
              <a:lumMod val="75000"/>
            </a:schemeClr>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2000" kern="1200">
          <a:solidFill>
            <a:schemeClr val="accent4">
              <a:lumMod val="75000"/>
            </a:schemeClr>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2000" kern="1200">
          <a:solidFill>
            <a:schemeClr val="accent4">
              <a:lumMod val="75000"/>
            </a:schemeClr>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228599"/>
          </a:xfrm>
        </p:spPr>
        <p:txBody>
          <a:bodyPr>
            <a:noAutofit/>
          </a:bodyPr>
          <a:lstStyle/>
          <a:p>
            <a:br>
              <a:rPr lang="en-US" sz="2800" dirty="0"/>
            </a:br>
            <a:br>
              <a:rPr lang="en-US" sz="2800" dirty="0"/>
            </a:br>
            <a:br>
              <a:rPr lang="en-US" sz="2800" dirty="0"/>
            </a:br>
            <a:br>
              <a:rPr lang="en-US" sz="2800" dirty="0"/>
            </a:br>
            <a:br>
              <a:rPr lang="en-US" sz="2800" dirty="0"/>
            </a:br>
            <a:br>
              <a:rPr lang="en-US" sz="2800" dirty="0"/>
            </a:br>
            <a:br>
              <a:rPr lang="en-US" sz="2400" dirty="0">
                <a:latin typeface="Arial" panose="020B0604020202020204" pitchFamily="34" charset="0"/>
                <a:cs typeface="Arial" panose="020B0604020202020204" pitchFamily="34" charset="0"/>
              </a:rPr>
            </a:br>
            <a:endParaRPr lang="en-US" sz="2800"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81000" y="971550"/>
            <a:ext cx="8534400" cy="3600450"/>
          </a:xfrm>
        </p:spPr>
        <p:txBody>
          <a:bodyPr>
            <a:noAutofit/>
          </a:bodyPr>
          <a:lstStyle/>
          <a:p>
            <a:pPr algn="l">
              <a:buFont typeface="Arial" pitchFamily="34" charset="0"/>
              <a:buChar char="•"/>
            </a:pPr>
            <a:endParaRPr lang="en-US" sz="2400" dirty="0">
              <a:solidFill>
                <a:schemeClr val="tx1"/>
              </a:solidFill>
              <a:latin typeface="Arial" pitchFamily="34" charset="0"/>
              <a:cs typeface="Arial" pitchFamily="34" charset="0"/>
            </a:endParaRPr>
          </a:p>
        </p:txBody>
      </p:sp>
      <p:pic>
        <p:nvPicPr>
          <p:cNvPr id="5" name="Picture 4" descr="File:C-DAC LogoTransp.png - Wikipedia"/>
          <p:cNvPicPr/>
          <p:nvPr/>
        </p:nvPicPr>
        <p:blipFill>
          <a:blip r:embed="rId2"/>
          <a:srcRect/>
          <a:stretch>
            <a:fillRect/>
          </a:stretch>
        </p:blipFill>
        <p:spPr bwMode="auto">
          <a:xfrm>
            <a:off x="7696200" y="40444"/>
            <a:ext cx="1388012" cy="759656"/>
          </a:xfrm>
          <a:prstGeom prst="rect">
            <a:avLst/>
          </a:prstGeom>
          <a:noFill/>
          <a:ln w="9525">
            <a:noFill/>
            <a:miter lim="800000"/>
            <a:headEnd/>
            <a:tailEnd/>
          </a:ln>
        </p:spPr>
      </p:pic>
      <p:sp>
        <p:nvSpPr>
          <p:cNvPr id="6" name="TextBox 5"/>
          <p:cNvSpPr txBox="1"/>
          <p:nvPr/>
        </p:nvSpPr>
        <p:spPr>
          <a:xfrm>
            <a:off x="3733800" y="1581150"/>
            <a:ext cx="4953000" cy="1415772"/>
          </a:xfrm>
          <a:prstGeom prst="rect">
            <a:avLst/>
          </a:prstGeom>
          <a:noFill/>
        </p:spPr>
        <p:txBody>
          <a:bodyPr wrap="square" rtlCol="0">
            <a:spAutoFit/>
          </a:bodyPr>
          <a:lstStyle/>
          <a:p>
            <a:pPr algn="ctr"/>
            <a:r>
              <a:rPr lang="en-US" sz="3200" b="1" dirty="0">
                <a:solidFill>
                  <a:schemeClr val="accent4">
                    <a:lumMod val="75000"/>
                  </a:schemeClr>
                </a:solidFill>
                <a:latin typeface="Arial" panose="020B0604020202020204" pitchFamily="34" charset="0"/>
                <a:cs typeface="Arial" pitchFamily="34" charset="0"/>
              </a:rPr>
              <a:t>Data Preprocessing</a:t>
            </a:r>
          </a:p>
          <a:p>
            <a:pPr algn="ctr"/>
            <a:endParaRPr lang="en-US" sz="3200" b="1" dirty="0">
              <a:solidFill>
                <a:schemeClr val="accent4">
                  <a:lumMod val="75000"/>
                </a:schemeClr>
              </a:solidFill>
              <a:latin typeface="Arial" panose="020B0604020202020204" pitchFamily="34" charset="0"/>
              <a:cs typeface="Arial" pitchFamily="34" charset="0"/>
            </a:endParaRPr>
          </a:p>
          <a:p>
            <a:pPr algn="ctr"/>
            <a:r>
              <a:rPr lang="en-US" sz="1100" b="1" dirty="0">
                <a:solidFill>
                  <a:schemeClr val="accent4">
                    <a:lumMod val="75000"/>
                  </a:schemeClr>
                </a:solidFill>
                <a:latin typeface="Arial" panose="020B0604020202020204" pitchFamily="34" charset="0"/>
                <a:cs typeface="Arial" pitchFamily="34" charset="0"/>
              </a:rPr>
              <a:t>By: Sidhidatri Nayak</a:t>
            </a:r>
          </a:p>
          <a:p>
            <a:pPr algn="ctr"/>
            <a:r>
              <a:rPr lang="en-US" sz="1100" b="1" dirty="0" err="1">
                <a:solidFill>
                  <a:schemeClr val="accent4">
                    <a:lumMod val="75000"/>
                  </a:schemeClr>
                </a:solidFill>
                <a:latin typeface="Arial" panose="020B0604020202020204" pitchFamily="34" charset="0"/>
                <a:cs typeface="Arial" pitchFamily="34" charset="0"/>
              </a:rPr>
              <a:t>CDAC,NOIDA,India</a:t>
            </a:r>
            <a:endParaRPr lang="en-US" sz="1100" dirty="0">
              <a:solidFill>
                <a:schemeClr val="accent4">
                  <a:lumMod val="75000"/>
                </a:schemeClr>
              </a:solidFill>
            </a:endParaRPr>
          </a:p>
        </p:txBody>
      </p:sp>
      <p:pic>
        <p:nvPicPr>
          <p:cNvPr id="7" name="Picture 4" descr="ITEC_new-removebg.png"/>
          <p:cNvPicPr>
            <a:picLocks noChangeAspect="1" noChangeArrowheads="1"/>
          </p:cNvPicPr>
          <p:nvPr/>
        </p:nvPicPr>
        <p:blipFill>
          <a:blip r:embed="rId3"/>
          <a:srcRect/>
          <a:stretch>
            <a:fillRect/>
          </a:stretch>
        </p:blipFill>
        <p:spPr bwMode="auto">
          <a:xfrm>
            <a:off x="76200" y="65172"/>
            <a:ext cx="1066800" cy="1059782"/>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3A0C4C-A236-48DE-BB32-2048C8B6498E}"/>
              </a:ext>
            </a:extLst>
          </p:cNvPr>
          <p:cNvSpPr>
            <a:spLocks noGrp="1"/>
          </p:cNvSpPr>
          <p:nvPr>
            <p:ph idx="1"/>
          </p:nvPr>
        </p:nvSpPr>
        <p:spPr/>
        <p:txBody>
          <a:bodyPr/>
          <a:lstStyle/>
          <a:p>
            <a:pPr marL="0" indent="0" algn="just">
              <a:buNone/>
            </a:pPr>
            <a:r>
              <a:rPr lang="en-US" sz="1500" dirty="0"/>
              <a:t>Notice regarding the usage of images:</a:t>
            </a:r>
          </a:p>
          <a:p>
            <a:pPr marL="0" indent="0" algn="just">
              <a:buNone/>
            </a:pPr>
            <a:r>
              <a:rPr lang="en-US" sz="1500" dirty="0"/>
              <a:t>This document contains images obtained by routine Google</a:t>
            </a:r>
          </a:p>
          <a:p>
            <a:pPr marL="0" indent="0" algn="just">
              <a:buNone/>
            </a:pPr>
            <a:r>
              <a:rPr lang="en-US" sz="1500" dirty="0"/>
              <a:t>Images searches. Some of these images may perhaps be under</a:t>
            </a:r>
          </a:p>
          <a:p>
            <a:pPr marL="0" indent="0" algn="just">
              <a:buNone/>
            </a:pPr>
            <a:r>
              <a:rPr lang="en-US" sz="1500" dirty="0"/>
              <a:t>copyright. They are included here for educational and</a:t>
            </a:r>
          </a:p>
          <a:p>
            <a:pPr marL="0" indent="0" algn="just">
              <a:buNone/>
            </a:pPr>
            <a:r>
              <a:rPr lang="en-US" sz="1500" dirty="0"/>
              <a:t>noncommercial purposes and are considered to be covered by</a:t>
            </a:r>
          </a:p>
          <a:p>
            <a:pPr marL="0" indent="0" algn="just">
              <a:buNone/>
            </a:pPr>
            <a:r>
              <a:rPr lang="en-US" sz="1500" dirty="0"/>
              <a:t>the doctrine of Fair Use. In any event they are easily available</a:t>
            </a:r>
          </a:p>
          <a:p>
            <a:pPr marL="0" indent="0" algn="just">
              <a:buNone/>
            </a:pPr>
            <a:r>
              <a:rPr lang="en-US" sz="1500" dirty="0"/>
              <a:t>from Google Images.</a:t>
            </a:r>
          </a:p>
        </p:txBody>
      </p:sp>
      <p:sp>
        <p:nvSpPr>
          <p:cNvPr id="3" name="Title 2">
            <a:extLst>
              <a:ext uri="{FF2B5EF4-FFF2-40B4-BE49-F238E27FC236}">
                <a16:creationId xmlns:a16="http://schemas.microsoft.com/office/drawing/2014/main" id="{ED1121A9-44DF-42B6-A199-03687BF2A304}"/>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3380291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74774"/>
            <a:ext cx="8229600" cy="857250"/>
          </a:xfrm>
        </p:spPr>
        <p:txBody>
          <a:bodyPr>
            <a:normAutofit/>
          </a:bodyPr>
          <a:lstStyle/>
          <a:p>
            <a:r>
              <a:rPr lang="en-US" sz="2400" dirty="0">
                <a:solidFill>
                  <a:srgbClr val="002060"/>
                </a:solidFill>
                <a:latin typeface="Cambria" panose="02040503050406030204" pitchFamily="18" charset="0"/>
                <a:ea typeface="Cambria" panose="02040503050406030204" pitchFamily="18" charset="0"/>
                <a:cs typeface="+mn-cs"/>
              </a:rPr>
              <a:t>Handling Missing Values</a:t>
            </a:r>
          </a:p>
        </p:txBody>
      </p:sp>
      <p:sp>
        <p:nvSpPr>
          <p:cNvPr id="4" name="Slide Number Placeholder 3"/>
          <p:cNvSpPr>
            <a:spLocks noGrp="1"/>
          </p:cNvSpPr>
          <p:nvPr>
            <p:ph type="sldNum" sz="quarter" idx="12"/>
          </p:nvPr>
        </p:nvSpPr>
        <p:spPr/>
        <p:txBody>
          <a:bodyPr/>
          <a:lstStyle/>
          <a:p>
            <a:fld id="{B841CA95-E0BC-48B5-948A-ECC494EB4D84}" type="slidenum">
              <a:rPr lang="en-US" smtClean="0"/>
              <a:t>3</a:t>
            </a:fld>
            <a:endParaRPr lang="en-US"/>
          </a:p>
        </p:txBody>
      </p:sp>
      <p:sp>
        <p:nvSpPr>
          <p:cNvPr id="7" name="TextBox 6"/>
          <p:cNvSpPr txBox="1"/>
          <p:nvPr/>
        </p:nvSpPr>
        <p:spPr>
          <a:xfrm>
            <a:off x="885582" y="895350"/>
            <a:ext cx="7813623" cy="3690113"/>
          </a:xfrm>
          <a:prstGeom prst="rect">
            <a:avLst/>
          </a:prstGeom>
          <a:noFill/>
        </p:spPr>
        <p:txBody>
          <a:bodyPr wrap="square" rtlCol="0">
            <a:spAutoFit/>
          </a:bodyPr>
          <a:lstStyle/>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Deleting Rows with missing values</a:t>
            </a:r>
          </a:p>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Impute missing values for continuous variable</a:t>
            </a:r>
          </a:p>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Impute missing values for categorical variable</a:t>
            </a:r>
          </a:p>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Other Imputation Methods</a:t>
            </a:r>
          </a:p>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Using Algorithms that support missing values</a:t>
            </a:r>
          </a:p>
          <a:p>
            <a:pPr algn="l">
              <a:lnSpc>
                <a:spcPct val="200000"/>
              </a:lnSpc>
              <a:buFont typeface="+mj-lt"/>
              <a:buAutoNum type="arabicPeriod"/>
            </a:pPr>
            <a:r>
              <a:rPr lang="en-US" sz="2000" dirty="0">
                <a:solidFill>
                  <a:srgbClr val="002060"/>
                </a:solidFill>
                <a:latin typeface="Cambria" panose="02040503050406030204" pitchFamily="18" charset="0"/>
                <a:ea typeface="Cambria" panose="02040503050406030204" pitchFamily="18" charset="0"/>
              </a:rPr>
              <a:t>Prediction of missing values</a:t>
            </a:r>
          </a:p>
        </p:txBody>
      </p:sp>
    </p:spTree>
    <p:extLst>
      <p:ext uri="{BB962C8B-B14F-4D97-AF65-F5344CB8AC3E}">
        <p14:creationId xmlns:p14="http://schemas.microsoft.com/office/powerpoint/2010/main" val="3615251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05472"/>
            <a:ext cx="8229600" cy="857250"/>
          </a:xfrm>
        </p:spPr>
        <p:txBody>
          <a:bodyPr/>
          <a:lstStyle/>
          <a:p>
            <a:r>
              <a:rPr lang="en-US" dirty="0"/>
              <a:t>Missing Values</a:t>
            </a:r>
          </a:p>
        </p:txBody>
      </p:sp>
      <p:sp>
        <p:nvSpPr>
          <p:cNvPr id="4" name="Slide Number Placeholder 3"/>
          <p:cNvSpPr>
            <a:spLocks noGrp="1"/>
          </p:cNvSpPr>
          <p:nvPr>
            <p:ph type="sldNum" sz="quarter" idx="12"/>
          </p:nvPr>
        </p:nvSpPr>
        <p:spPr/>
        <p:txBody>
          <a:bodyPr/>
          <a:lstStyle/>
          <a:p>
            <a:fld id="{B841CA95-E0BC-48B5-948A-ECC494EB4D84}" type="slidenum">
              <a:rPr lang="en-US" smtClean="0"/>
              <a:t>4</a:t>
            </a:fld>
            <a:endParaRPr lang="en-US"/>
          </a:p>
        </p:txBody>
      </p:sp>
      <p:sp>
        <p:nvSpPr>
          <p:cNvPr id="7" name="TextBox 6"/>
          <p:cNvSpPr txBox="1"/>
          <p:nvPr/>
        </p:nvSpPr>
        <p:spPr>
          <a:xfrm>
            <a:off x="914400" y="1018934"/>
            <a:ext cx="7813623" cy="369332"/>
          </a:xfrm>
          <a:prstGeom prst="rect">
            <a:avLst/>
          </a:prstGeom>
          <a:noFill/>
        </p:spPr>
        <p:txBody>
          <a:bodyPr wrap="square" rtlCol="0">
            <a:spAutoFit/>
          </a:bodyPr>
          <a:lstStyle/>
          <a:p>
            <a:r>
              <a:rPr lang="en-US" dirty="0"/>
              <a:t>There are a number of methods to deal with missing values in the data frame:</a:t>
            </a:r>
          </a:p>
        </p:txBody>
      </p:sp>
      <p:graphicFrame>
        <p:nvGraphicFramePr>
          <p:cNvPr id="12" name="Table 11"/>
          <p:cNvGraphicFramePr>
            <a:graphicFrameLocks noGrp="1"/>
          </p:cNvGraphicFramePr>
          <p:nvPr>
            <p:extLst>
              <p:ext uri="{D42A27DB-BD31-4B8C-83A1-F6EECF244321}">
                <p14:modId xmlns:p14="http://schemas.microsoft.com/office/powerpoint/2010/main" val="1769390237"/>
              </p:ext>
            </p:extLst>
          </p:nvPr>
        </p:nvGraphicFramePr>
        <p:xfrm>
          <a:off x="990600" y="1444478"/>
          <a:ext cx="6323350" cy="3221116"/>
        </p:xfrm>
        <a:graphic>
          <a:graphicData uri="http://schemas.openxmlformats.org/drawingml/2006/table">
            <a:tbl>
              <a:tblPr firstRow="1" bandRow="1">
                <a:tableStyleId>{B301B821-A1FF-4177-AEE7-76D212191A09}</a:tableStyleId>
              </a:tblPr>
              <a:tblGrid>
                <a:gridCol w="1923737">
                  <a:extLst>
                    <a:ext uri="{9D8B030D-6E8A-4147-A177-3AD203B41FA5}">
                      <a16:colId xmlns:a16="http://schemas.microsoft.com/office/drawing/2014/main" val="20000"/>
                    </a:ext>
                  </a:extLst>
                </a:gridCol>
                <a:gridCol w="4399613">
                  <a:extLst>
                    <a:ext uri="{9D8B030D-6E8A-4147-A177-3AD203B41FA5}">
                      <a16:colId xmlns:a16="http://schemas.microsoft.com/office/drawing/2014/main" val="20001"/>
                    </a:ext>
                  </a:extLst>
                </a:gridCol>
              </a:tblGrid>
              <a:tr h="43365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df.method</a:t>
                      </a:r>
                      <a:r>
                        <a:rPr lang="en-US" sz="1800" dirty="0"/>
                        <a:t>()</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description</a:t>
                      </a:r>
                    </a:p>
                  </a:txBody>
                  <a:tcPr marL="68580" marR="68580" marT="34290" marB="34290"/>
                </a:tc>
                <a:extLst>
                  <a:ext uri="{0D108BD9-81ED-4DB2-BD59-A6C34878D82A}">
                    <a16:rowId xmlns:a16="http://schemas.microsoft.com/office/drawing/2014/main" val="10000"/>
                  </a:ext>
                </a:extLst>
              </a:tr>
              <a:tr h="362853">
                <a:tc>
                  <a:txBody>
                    <a:bodyPr/>
                    <a:lstStyle/>
                    <a:p>
                      <a:r>
                        <a:rPr lang="en-US" sz="1400" dirty="0" err="1"/>
                        <a:t>dropna</a:t>
                      </a:r>
                      <a:r>
                        <a:rPr lang="en-US" sz="1400" dirty="0"/>
                        <a:t>()</a:t>
                      </a:r>
                    </a:p>
                  </a:txBody>
                  <a:tcPr marL="68580" marR="68580" marT="34290" marB="34290"/>
                </a:tc>
                <a:tc>
                  <a:txBody>
                    <a:bodyPr/>
                    <a:lstStyle/>
                    <a:p>
                      <a:r>
                        <a:rPr lang="en-US" sz="1400" dirty="0"/>
                        <a:t>Drop missing observations</a:t>
                      </a:r>
                    </a:p>
                  </a:txBody>
                  <a:tcPr marL="68580" marR="68580" marT="34290" marB="34290"/>
                </a:tc>
                <a:extLst>
                  <a:ext uri="{0D108BD9-81ED-4DB2-BD59-A6C34878D82A}">
                    <a16:rowId xmlns:a16="http://schemas.microsoft.com/office/drawing/2014/main" val="10001"/>
                  </a:ext>
                </a:extLst>
              </a:tr>
              <a:tr h="362853">
                <a:tc>
                  <a:txBody>
                    <a:bodyPr/>
                    <a:lstStyle/>
                    <a:p>
                      <a:r>
                        <a:rPr lang="en-US" sz="1400" dirty="0" err="1"/>
                        <a:t>dropna</a:t>
                      </a:r>
                      <a:r>
                        <a:rPr lang="en-US" sz="1400" dirty="0"/>
                        <a:t>(how='all')</a:t>
                      </a:r>
                    </a:p>
                  </a:txBody>
                  <a:tcPr marL="68580" marR="68580" marT="34290" marB="34290"/>
                </a:tc>
                <a:tc>
                  <a:txBody>
                    <a:bodyPr/>
                    <a:lstStyle/>
                    <a:p>
                      <a:r>
                        <a:rPr lang="en-US" sz="1400" dirty="0"/>
                        <a:t>Drop observations where all cells is NA</a:t>
                      </a:r>
                    </a:p>
                  </a:txBody>
                  <a:tcPr marL="68580" marR="68580" marT="34290" marB="34290"/>
                </a:tc>
                <a:extLst>
                  <a:ext uri="{0D108BD9-81ED-4DB2-BD59-A6C34878D82A}">
                    <a16:rowId xmlns:a16="http://schemas.microsoft.com/office/drawing/2014/main" val="10002"/>
                  </a:ext>
                </a:extLst>
              </a:tr>
              <a:tr h="398252">
                <a:tc>
                  <a:txBody>
                    <a:bodyPr/>
                    <a:lstStyle/>
                    <a:p>
                      <a:r>
                        <a:rPr lang="en-US" sz="1400" dirty="0" err="1"/>
                        <a:t>dropna</a:t>
                      </a:r>
                      <a:r>
                        <a:rPr lang="en-US" sz="1400" dirty="0"/>
                        <a:t>(axis=1, how='all')</a:t>
                      </a:r>
                    </a:p>
                  </a:txBody>
                  <a:tcPr marL="68580" marR="68580" marT="34290" marB="34290"/>
                </a:tc>
                <a:tc>
                  <a:txBody>
                    <a:bodyPr/>
                    <a:lstStyle/>
                    <a:p>
                      <a:r>
                        <a:rPr lang="en-US" sz="1400" dirty="0"/>
                        <a:t>Drop column if all the values are</a:t>
                      </a:r>
                      <a:r>
                        <a:rPr lang="en-US" sz="1400" baseline="0" dirty="0"/>
                        <a:t> missing</a:t>
                      </a:r>
                      <a:endParaRPr lang="en-US" sz="1400" dirty="0"/>
                    </a:p>
                  </a:txBody>
                  <a:tcPr marL="68580" marR="68580" marT="34290" marB="34290"/>
                </a:tc>
                <a:extLst>
                  <a:ext uri="{0D108BD9-81ED-4DB2-BD59-A6C34878D82A}">
                    <a16:rowId xmlns:a16="http://schemas.microsoft.com/office/drawing/2014/main" val="10003"/>
                  </a:ext>
                </a:extLst>
              </a:tr>
              <a:tr h="407102">
                <a:tc>
                  <a:txBody>
                    <a:bodyPr/>
                    <a:lstStyle/>
                    <a:p>
                      <a:r>
                        <a:rPr lang="en-US" sz="1400" dirty="0" err="1"/>
                        <a:t>dropna</a:t>
                      </a:r>
                      <a:r>
                        <a:rPr lang="en-US" sz="1400" dirty="0"/>
                        <a:t>(thresh = 5)</a:t>
                      </a:r>
                    </a:p>
                  </a:txBody>
                  <a:tcPr marL="68580" marR="68580" marT="34290" marB="34290"/>
                </a:tc>
                <a:tc>
                  <a:txBody>
                    <a:bodyPr/>
                    <a:lstStyle/>
                    <a:p>
                      <a:r>
                        <a:rPr lang="en-US" sz="1400" dirty="0"/>
                        <a:t>Drop rows that contain less than 5 non-missing values</a:t>
                      </a:r>
                    </a:p>
                  </a:txBody>
                  <a:tcPr marL="68580" marR="68580" marT="34290" marB="34290"/>
                </a:tc>
                <a:extLst>
                  <a:ext uri="{0D108BD9-81ED-4DB2-BD59-A6C34878D82A}">
                    <a16:rowId xmlns:a16="http://schemas.microsoft.com/office/drawing/2014/main" val="10004"/>
                  </a:ext>
                </a:extLst>
              </a:tr>
              <a:tr h="407102">
                <a:tc>
                  <a:txBody>
                    <a:bodyPr/>
                    <a:lstStyle/>
                    <a:p>
                      <a:r>
                        <a:rPr lang="en-US" sz="1400" dirty="0" err="1"/>
                        <a:t>fillna</a:t>
                      </a:r>
                      <a:r>
                        <a:rPr lang="en-US" sz="1400" dirty="0"/>
                        <a:t>(0)</a:t>
                      </a:r>
                    </a:p>
                  </a:txBody>
                  <a:tcPr marL="68580" marR="68580" marT="34290" marB="34290"/>
                </a:tc>
                <a:tc>
                  <a:txBody>
                    <a:bodyPr/>
                    <a:lstStyle/>
                    <a:p>
                      <a:r>
                        <a:rPr lang="en-US" sz="1400" dirty="0"/>
                        <a:t>Replace missing values with zeros</a:t>
                      </a:r>
                    </a:p>
                  </a:txBody>
                  <a:tcPr marL="68580" marR="68580" marT="34290" marB="34290"/>
                </a:tc>
                <a:extLst>
                  <a:ext uri="{0D108BD9-81ED-4DB2-BD59-A6C34878D82A}">
                    <a16:rowId xmlns:a16="http://schemas.microsoft.com/office/drawing/2014/main" val="10005"/>
                  </a:ext>
                </a:extLst>
              </a:tr>
              <a:tr h="376127">
                <a:tc>
                  <a:txBody>
                    <a:bodyPr/>
                    <a:lstStyle/>
                    <a:p>
                      <a:r>
                        <a:rPr lang="en-US" sz="1400" dirty="0" err="1"/>
                        <a:t>isnull</a:t>
                      </a:r>
                      <a:r>
                        <a:rPr lang="en-US" sz="1400" dirty="0"/>
                        <a:t>()</a:t>
                      </a:r>
                    </a:p>
                  </a:txBody>
                  <a:tcPr marL="68580" marR="68580" marT="34290" marB="34290"/>
                </a:tc>
                <a:tc>
                  <a:txBody>
                    <a:bodyPr/>
                    <a:lstStyle/>
                    <a:p>
                      <a:r>
                        <a:rPr lang="en-US" sz="1400" dirty="0"/>
                        <a:t>returns True if the value is missing</a:t>
                      </a:r>
                    </a:p>
                  </a:txBody>
                  <a:tcPr marL="68580" marR="68580" marT="34290" marB="34290"/>
                </a:tc>
                <a:extLst>
                  <a:ext uri="{0D108BD9-81ED-4DB2-BD59-A6C34878D82A}">
                    <a16:rowId xmlns:a16="http://schemas.microsoft.com/office/drawing/2014/main" val="10006"/>
                  </a:ext>
                </a:extLst>
              </a:tr>
              <a:tr h="376127">
                <a:tc>
                  <a:txBody>
                    <a:bodyPr/>
                    <a:lstStyle/>
                    <a:p>
                      <a:r>
                        <a:rPr lang="en-US" sz="1400" dirty="0" err="1"/>
                        <a:t>notnull</a:t>
                      </a:r>
                      <a:r>
                        <a:rPr lang="en-US" sz="1400" dirty="0"/>
                        <a:t>()</a:t>
                      </a:r>
                    </a:p>
                  </a:txBody>
                  <a:tcPr marL="68580" marR="68580" marT="34290" marB="34290"/>
                </a:tc>
                <a:tc>
                  <a:txBody>
                    <a:bodyPr/>
                    <a:lstStyle/>
                    <a:p>
                      <a:r>
                        <a:rPr lang="en-US" sz="1400" dirty="0"/>
                        <a:t>Returns True for non-missing values</a:t>
                      </a:r>
                    </a:p>
                  </a:txBody>
                  <a:tcPr marL="68580" marR="68580" marT="34290" marB="3429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99206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77E253-59F1-4CB8-AB04-34A918606E2F}"/>
              </a:ext>
            </a:extLst>
          </p:cNvPr>
          <p:cNvSpPr>
            <a:spLocks noGrp="1"/>
          </p:cNvSpPr>
          <p:nvPr>
            <p:ph idx="1"/>
          </p:nvPr>
        </p:nvSpPr>
        <p:spPr>
          <a:xfrm>
            <a:off x="457200" y="1110996"/>
            <a:ext cx="8229600" cy="3670553"/>
          </a:xfrm>
        </p:spPr>
        <p:txBody>
          <a:bodyPr>
            <a:normAutofit fontScale="70000" lnSpcReduction="20000"/>
          </a:bodyPr>
          <a:lstStyle/>
          <a:p>
            <a:pPr marL="342900" indent="-342900" defTabSz="460375">
              <a:lnSpc>
                <a:spcPct val="200000"/>
              </a:lnSpc>
              <a:buFont typeface="Wingdings" panose="05000000000000000000" pitchFamily="2" charset="2"/>
              <a:buChar char="Ø"/>
              <a:tabLst>
                <a:tab pos="0" algn="l"/>
              </a:tabLst>
            </a:pPr>
            <a:r>
              <a:rPr lang="en-US" dirty="0">
                <a:solidFill>
                  <a:srgbClr val="002060"/>
                </a:solidFill>
                <a:latin typeface="Cambria" panose="02040503050406030204" pitchFamily="18" charset="0"/>
                <a:ea typeface="Cambria" panose="02040503050406030204" pitchFamily="18" charset="0"/>
              </a:rPr>
              <a:t> Feature Scaling is a technique to  scale the independent features present     in the data in a fixed range. </a:t>
            </a:r>
          </a:p>
          <a:p>
            <a:pPr marL="0" indent="-457200">
              <a:lnSpc>
                <a:spcPct val="200000"/>
              </a:lnSpc>
              <a:buFont typeface="Wingdings" panose="05000000000000000000" pitchFamily="2" charset="2"/>
              <a:buChar char="Ø"/>
            </a:pPr>
            <a:r>
              <a:rPr lang="en-US" dirty="0">
                <a:solidFill>
                  <a:srgbClr val="002060"/>
                </a:solidFill>
                <a:latin typeface="Cambria" panose="02040503050406030204" pitchFamily="18" charset="0"/>
                <a:ea typeface="Cambria" panose="02040503050406030204" pitchFamily="18" charset="0"/>
              </a:rPr>
              <a:t>Data pre-processing activity.</a:t>
            </a:r>
          </a:p>
          <a:p>
            <a:pPr marL="0" indent="-457200">
              <a:lnSpc>
                <a:spcPct val="200000"/>
              </a:lnSpc>
              <a:buFont typeface="Wingdings" panose="05000000000000000000" pitchFamily="2" charset="2"/>
              <a:buChar char="Ø"/>
            </a:pPr>
            <a:r>
              <a:rPr lang="en-US" dirty="0">
                <a:solidFill>
                  <a:srgbClr val="002060"/>
                </a:solidFill>
                <a:latin typeface="Cambria" panose="02040503050406030204" pitchFamily="18" charset="0"/>
                <a:ea typeface="Cambria" panose="02040503050406030204" pitchFamily="18" charset="0"/>
              </a:rPr>
              <a:t>bring all values to the same magnitudes\range.</a:t>
            </a:r>
          </a:p>
          <a:p>
            <a:pPr marL="0" indent="-457200">
              <a:lnSpc>
                <a:spcPct val="200000"/>
              </a:lnSpc>
              <a:buFont typeface="Wingdings" panose="05000000000000000000" pitchFamily="2" charset="2"/>
              <a:buChar char="Ø"/>
            </a:pPr>
            <a:r>
              <a:rPr lang="en-US" dirty="0">
                <a:solidFill>
                  <a:srgbClr val="002060"/>
                </a:solidFill>
                <a:latin typeface="Cambria" panose="02040503050406030204" pitchFamily="18" charset="0"/>
                <a:ea typeface="Cambria" panose="02040503050406030204" pitchFamily="18" charset="0"/>
              </a:rPr>
              <a:t> Helps in speeding up the calculations in an algorithm .</a:t>
            </a:r>
          </a:p>
          <a:p>
            <a:pPr marL="0" indent="-457200">
              <a:lnSpc>
                <a:spcPct val="200000"/>
              </a:lnSpc>
              <a:buFont typeface="Wingdings" panose="05000000000000000000" pitchFamily="2" charset="2"/>
              <a:buChar char="Ø"/>
            </a:pPr>
            <a:r>
              <a:rPr lang="en-US" dirty="0">
                <a:solidFill>
                  <a:srgbClr val="002060"/>
                </a:solidFill>
                <a:latin typeface="Cambria" panose="02040503050406030204" pitchFamily="18" charset="0"/>
                <a:ea typeface="Cambria" panose="02040503050406030204" pitchFamily="18" charset="0"/>
              </a:rPr>
              <a:t>Correct prediction</a:t>
            </a:r>
          </a:p>
          <a:p>
            <a:pPr marL="0" indent="-457200">
              <a:lnSpc>
                <a:spcPct val="200000"/>
              </a:lnSpc>
              <a:buFont typeface="Wingdings" panose="05000000000000000000" pitchFamily="2" charset="2"/>
              <a:buChar char="Ø"/>
            </a:pPr>
            <a:r>
              <a:rPr lang="en-US" sz="2100" dirty="0">
                <a:solidFill>
                  <a:srgbClr val="002060"/>
                </a:solidFill>
                <a:latin typeface="Cambria" panose="02040503050406030204" pitchFamily="18" charset="0"/>
                <a:ea typeface="Cambria" panose="02040503050406030204" pitchFamily="18" charset="0"/>
              </a:rPr>
              <a:t>Scaling can make a difference between a weak machine learning model and a better one.</a:t>
            </a:r>
          </a:p>
        </p:txBody>
      </p:sp>
      <p:sp>
        <p:nvSpPr>
          <p:cNvPr id="3" name="Title 2">
            <a:extLst>
              <a:ext uri="{FF2B5EF4-FFF2-40B4-BE49-F238E27FC236}">
                <a16:creationId xmlns:a16="http://schemas.microsoft.com/office/drawing/2014/main" id="{B2F4738E-4124-46FE-BF89-FAB0482EFC6F}"/>
              </a:ext>
            </a:extLst>
          </p:cNvPr>
          <p:cNvSpPr>
            <a:spLocks noGrp="1"/>
          </p:cNvSpPr>
          <p:nvPr>
            <p:ph type="title"/>
          </p:nvPr>
        </p:nvSpPr>
        <p:spPr/>
        <p:txBody>
          <a:bodyPr/>
          <a:lstStyle/>
          <a:p>
            <a:pPr algn="ctr"/>
            <a:r>
              <a:rPr lang="en-US" dirty="0"/>
              <a:t>Feature Scaling</a:t>
            </a:r>
          </a:p>
        </p:txBody>
      </p:sp>
    </p:spTree>
    <p:extLst>
      <p:ext uri="{BB962C8B-B14F-4D97-AF65-F5344CB8AC3E}">
        <p14:creationId xmlns:p14="http://schemas.microsoft.com/office/powerpoint/2010/main" val="2123753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BD4868-27A4-393F-DFD0-B3BED74BEBE3}"/>
              </a:ext>
            </a:extLst>
          </p:cNvPr>
          <p:cNvSpPr>
            <a:spLocks noGrp="1"/>
          </p:cNvSpPr>
          <p:nvPr>
            <p:ph idx="1"/>
          </p:nvPr>
        </p:nvSpPr>
        <p:spPr/>
        <p:txBody>
          <a:bodyPr>
            <a:normAutofit/>
          </a:bodyPr>
          <a:lstStyle/>
          <a:p>
            <a:r>
              <a:rPr lang="en-US" dirty="0"/>
              <a:t>Feature scaling is a data preprocessing step in machine learning that transforms numerical features to a common scale.</a:t>
            </a:r>
          </a:p>
          <a:p>
            <a:r>
              <a:rPr lang="en-US" dirty="0"/>
              <a:t>prevents features with larger ranges (like salary) from dominating those with smaller ranges (like age) and ensures all features contribute equally, leading to faster model convergence and better performance.</a:t>
            </a:r>
          </a:p>
          <a:p>
            <a:r>
              <a:rPr lang="en-US" dirty="0"/>
              <a:t>commonly using normalization (0 to 1 range) or standardization (mean 0, std dev 1). </a:t>
            </a:r>
          </a:p>
        </p:txBody>
      </p:sp>
      <p:sp>
        <p:nvSpPr>
          <p:cNvPr id="3" name="Title 2">
            <a:extLst>
              <a:ext uri="{FF2B5EF4-FFF2-40B4-BE49-F238E27FC236}">
                <a16:creationId xmlns:a16="http://schemas.microsoft.com/office/drawing/2014/main" id="{EFEC4F2C-B8E9-C67A-0CD1-DA3229B49681}"/>
              </a:ext>
            </a:extLst>
          </p:cNvPr>
          <p:cNvSpPr>
            <a:spLocks noGrp="1"/>
          </p:cNvSpPr>
          <p:nvPr>
            <p:ph type="title"/>
          </p:nvPr>
        </p:nvSpPr>
        <p:spPr/>
        <p:txBody>
          <a:bodyPr/>
          <a:lstStyle/>
          <a:p>
            <a:r>
              <a:rPr lang="en-US" dirty="0"/>
              <a:t>What is Feature Scaling?</a:t>
            </a:r>
          </a:p>
        </p:txBody>
      </p:sp>
    </p:spTree>
    <p:extLst>
      <p:ext uri="{BB962C8B-B14F-4D97-AF65-F5344CB8AC3E}">
        <p14:creationId xmlns:p14="http://schemas.microsoft.com/office/powerpoint/2010/main" val="1436423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0FB5FD-C709-4D30-8F4F-D61942D311BA}"/>
              </a:ext>
            </a:extLst>
          </p:cNvPr>
          <p:cNvPicPr>
            <a:picLocks noGrp="1" noChangeAspect="1"/>
          </p:cNvPicPr>
          <p:nvPr>
            <p:ph idx="1"/>
          </p:nvPr>
        </p:nvPicPr>
        <p:blipFill>
          <a:blip r:embed="rId2"/>
          <a:stretch>
            <a:fillRect/>
          </a:stretch>
        </p:blipFill>
        <p:spPr>
          <a:xfrm>
            <a:off x="2438400" y="1123950"/>
            <a:ext cx="4057681" cy="3136900"/>
          </a:xfrm>
        </p:spPr>
      </p:pic>
      <p:sp>
        <p:nvSpPr>
          <p:cNvPr id="3" name="Title 2">
            <a:extLst>
              <a:ext uri="{FF2B5EF4-FFF2-40B4-BE49-F238E27FC236}">
                <a16:creationId xmlns:a16="http://schemas.microsoft.com/office/drawing/2014/main" id="{B44DC5F0-D4E0-45F8-897E-15DE35B616C2}"/>
              </a:ext>
            </a:extLst>
          </p:cNvPr>
          <p:cNvSpPr>
            <a:spLocks noGrp="1"/>
          </p:cNvSpPr>
          <p:nvPr>
            <p:ph type="title"/>
          </p:nvPr>
        </p:nvSpPr>
        <p:spPr>
          <a:xfrm>
            <a:off x="990600" y="57150"/>
            <a:ext cx="6096000" cy="857250"/>
          </a:xfrm>
        </p:spPr>
        <p:txBody>
          <a:bodyPr/>
          <a:lstStyle/>
          <a:p>
            <a:r>
              <a:rPr lang="en-US" dirty="0"/>
              <a:t>Why Feature scaling??</a:t>
            </a:r>
          </a:p>
        </p:txBody>
      </p:sp>
    </p:spTree>
    <p:extLst>
      <p:ext uri="{BB962C8B-B14F-4D97-AF65-F5344CB8AC3E}">
        <p14:creationId xmlns:p14="http://schemas.microsoft.com/office/powerpoint/2010/main" val="2248686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54430C-6239-4C5A-A464-35EC23C45331}"/>
              </a:ext>
            </a:extLst>
          </p:cNvPr>
          <p:cNvSpPr>
            <a:spLocks noGrp="1"/>
          </p:cNvSpPr>
          <p:nvPr>
            <p:ph idx="1"/>
          </p:nvPr>
        </p:nvSpPr>
        <p:spPr/>
        <p:txBody>
          <a:bodyPr/>
          <a:lstStyle/>
          <a:p>
            <a:pPr>
              <a:lnSpc>
                <a:spcPct val="200000"/>
              </a:lnSpc>
            </a:pPr>
            <a:r>
              <a:rPr lang="en-US" sz="1400" dirty="0">
                <a:solidFill>
                  <a:srgbClr val="FF0000"/>
                </a:solidFill>
                <a:latin typeface="Cambria" panose="02040503050406030204" pitchFamily="18" charset="0"/>
                <a:ea typeface="Cambria" panose="02040503050406030204" pitchFamily="18" charset="0"/>
              </a:rPr>
              <a:t>Equal Contribution</a:t>
            </a:r>
            <a:r>
              <a:rPr lang="en-US" sz="1400" dirty="0">
                <a:solidFill>
                  <a:srgbClr val="002060"/>
                </a:solidFill>
                <a:latin typeface="Cambria" panose="02040503050406030204" pitchFamily="18" charset="0"/>
                <a:ea typeface="Cambria" panose="02040503050406030204" pitchFamily="18" charset="0"/>
              </a:rPr>
              <a:t>: Prevents algorithms from giving undue importance to features with larger values.</a:t>
            </a:r>
          </a:p>
          <a:p>
            <a:pPr>
              <a:lnSpc>
                <a:spcPct val="200000"/>
              </a:lnSpc>
            </a:pPr>
            <a:r>
              <a:rPr lang="en-US" sz="1400" dirty="0">
                <a:solidFill>
                  <a:srgbClr val="FF0000"/>
                </a:solidFill>
                <a:latin typeface="Cambria" panose="02040503050406030204" pitchFamily="18" charset="0"/>
                <a:ea typeface="Cambria" panose="02040503050406030204" pitchFamily="18" charset="0"/>
              </a:rPr>
              <a:t>Faster Convergence</a:t>
            </a:r>
            <a:r>
              <a:rPr lang="en-US" sz="1400" dirty="0">
                <a:solidFill>
                  <a:srgbClr val="002060"/>
                </a:solidFill>
                <a:latin typeface="Cambria" panose="02040503050406030204" pitchFamily="18" charset="0"/>
                <a:ea typeface="Cambria" panose="02040503050406030204" pitchFamily="18" charset="0"/>
              </a:rPr>
              <a:t>: Helps gradient descent and other optimization algorithms converge quicker.</a:t>
            </a:r>
          </a:p>
          <a:p>
            <a:pPr>
              <a:lnSpc>
                <a:spcPct val="200000"/>
              </a:lnSpc>
            </a:pPr>
            <a:r>
              <a:rPr lang="en-US" sz="1400" dirty="0">
                <a:solidFill>
                  <a:srgbClr val="FF0000"/>
                </a:solidFill>
                <a:latin typeface="Cambria" panose="02040503050406030204" pitchFamily="18" charset="0"/>
                <a:ea typeface="Cambria" panose="02040503050406030204" pitchFamily="18" charset="0"/>
              </a:rPr>
              <a:t>Improved Performance</a:t>
            </a:r>
            <a:r>
              <a:rPr lang="en-US" sz="1400" dirty="0">
                <a:solidFill>
                  <a:srgbClr val="002060"/>
                </a:solidFill>
                <a:latin typeface="Cambria" panose="02040503050406030204" pitchFamily="18" charset="0"/>
                <a:ea typeface="Cambria" panose="02040503050406030204" pitchFamily="18" charset="0"/>
              </a:rPr>
              <a:t>: Crucial for distance-based algorithms (like KNN, SVM) and gradient descent-based models (like Neural Networks). </a:t>
            </a:r>
          </a:p>
        </p:txBody>
      </p:sp>
      <p:sp>
        <p:nvSpPr>
          <p:cNvPr id="3" name="Title 2">
            <a:extLst>
              <a:ext uri="{FF2B5EF4-FFF2-40B4-BE49-F238E27FC236}">
                <a16:creationId xmlns:a16="http://schemas.microsoft.com/office/drawing/2014/main" id="{E731BD8A-5712-4951-98AA-EE9E11289231}"/>
              </a:ext>
            </a:extLst>
          </p:cNvPr>
          <p:cNvSpPr>
            <a:spLocks noGrp="1"/>
          </p:cNvSpPr>
          <p:nvPr>
            <p:ph type="title"/>
          </p:nvPr>
        </p:nvSpPr>
        <p:spPr/>
        <p:txBody>
          <a:bodyPr>
            <a:normAutofit fontScale="90000"/>
          </a:bodyPr>
          <a:lstStyle/>
          <a:p>
            <a:r>
              <a:rPr lang="en-US" dirty="0"/>
              <a:t>     Why is feature scaling </a:t>
            </a:r>
            <a:r>
              <a:rPr lang="en-US" dirty="0">
                <a:solidFill>
                  <a:srgbClr val="002060"/>
                </a:solidFill>
                <a:latin typeface="Cambria" panose="02040503050406030204" pitchFamily="18" charset="0"/>
                <a:ea typeface="Cambria" panose="02040503050406030204" pitchFamily="18" charset="0"/>
              </a:rPr>
              <a:t>important</a:t>
            </a:r>
            <a:br>
              <a:rPr lang="en-US" dirty="0">
                <a:solidFill>
                  <a:srgbClr val="002060"/>
                </a:solidFill>
                <a:latin typeface="Cambria" panose="02040503050406030204" pitchFamily="18" charset="0"/>
                <a:ea typeface="Cambria" panose="02040503050406030204" pitchFamily="18" charset="0"/>
              </a:rPr>
            </a:br>
            <a:r>
              <a:rPr lang="en-US" dirty="0"/>
              <a:t>?				?</a:t>
            </a:r>
          </a:p>
        </p:txBody>
      </p:sp>
    </p:spTree>
    <p:extLst>
      <p:ext uri="{BB962C8B-B14F-4D97-AF65-F5344CB8AC3E}">
        <p14:creationId xmlns:p14="http://schemas.microsoft.com/office/powerpoint/2010/main" val="181769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04511-99F3-4B1C-BD07-B067A5507C5A}"/>
              </a:ext>
            </a:extLst>
          </p:cNvPr>
          <p:cNvSpPr>
            <a:spLocks noGrp="1"/>
          </p:cNvSpPr>
          <p:nvPr>
            <p:ph type="title"/>
          </p:nvPr>
        </p:nvSpPr>
        <p:spPr/>
        <p:txBody>
          <a:bodyPr>
            <a:normAutofit/>
          </a:bodyPr>
          <a:lstStyle/>
          <a:p>
            <a:pPr algn="ctr">
              <a:spcBef>
                <a:spcPts val="750"/>
              </a:spcBef>
            </a:pPr>
            <a:r>
              <a:rPr lang="en-US" sz="2400" dirty="0">
                <a:solidFill>
                  <a:srgbClr val="002060"/>
                </a:solidFill>
                <a:latin typeface="Cambria" panose="02040503050406030204" pitchFamily="18" charset="0"/>
                <a:ea typeface="Cambria" panose="02040503050406030204" pitchFamily="18" charset="0"/>
                <a:cs typeface="+mn-cs"/>
              </a:rPr>
              <a:t>Feature Scaling Techniques</a:t>
            </a:r>
          </a:p>
        </p:txBody>
      </p:sp>
      <p:sp>
        <p:nvSpPr>
          <p:cNvPr id="3" name="Content Placeholder 2">
            <a:extLst>
              <a:ext uri="{FF2B5EF4-FFF2-40B4-BE49-F238E27FC236}">
                <a16:creationId xmlns:a16="http://schemas.microsoft.com/office/drawing/2014/main" id="{E06399B3-F7D5-4C9D-BF4D-F20AF73E7643}"/>
              </a:ext>
            </a:extLst>
          </p:cNvPr>
          <p:cNvSpPr>
            <a:spLocks noGrp="1"/>
          </p:cNvSpPr>
          <p:nvPr>
            <p:ph idx="1"/>
          </p:nvPr>
        </p:nvSpPr>
        <p:spPr/>
        <p:txBody>
          <a:bodyPr/>
          <a:lstStyle/>
          <a:p>
            <a:r>
              <a:rPr lang="en-US" dirty="0">
                <a:solidFill>
                  <a:srgbClr val="002060"/>
                </a:solidFill>
                <a:latin typeface="Cambria" panose="02040503050406030204" pitchFamily="18" charset="0"/>
                <a:ea typeface="Cambria" panose="02040503050406030204" pitchFamily="18" charset="0"/>
              </a:rPr>
              <a:t>Standardization</a:t>
            </a:r>
          </a:p>
          <a:p>
            <a:r>
              <a:rPr lang="en-US" dirty="0">
                <a:solidFill>
                  <a:srgbClr val="002060"/>
                </a:solidFill>
                <a:latin typeface="Cambria" panose="02040503050406030204" pitchFamily="18" charset="0"/>
                <a:ea typeface="Cambria" panose="02040503050406030204" pitchFamily="18" charset="0"/>
              </a:rPr>
              <a:t>Normalization</a:t>
            </a:r>
          </a:p>
          <a:p>
            <a:r>
              <a:rPr lang="en-US" dirty="0">
                <a:solidFill>
                  <a:srgbClr val="002060"/>
                </a:solidFill>
                <a:latin typeface="Cambria" panose="02040503050406030204" pitchFamily="18" charset="0"/>
                <a:ea typeface="Cambria" panose="02040503050406030204" pitchFamily="18" charset="0"/>
              </a:rPr>
              <a:t>Binarization</a:t>
            </a:r>
          </a:p>
          <a:p>
            <a:r>
              <a:rPr lang="en-US" dirty="0">
                <a:solidFill>
                  <a:srgbClr val="002060"/>
                </a:solidFill>
                <a:latin typeface="Cambria" panose="02040503050406030204" pitchFamily="18" charset="0"/>
                <a:ea typeface="Cambria" panose="02040503050406030204" pitchFamily="18" charset="0"/>
              </a:rPr>
              <a:t>Label encoder</a:t>
            </a:r>
          </a:p>
          <a:p>
            <a:r>
              <a:rPr lang="en-US" dirty="0">
                <a:solidFill>
                  <a:srgbClr val="002060"/>
                </a:solidFill>
                <a:latin typeface="Cambria" panose="02040503050406030204" pitchFamily="18" charset="0"/>
                <a:ea typeface="Cambria" panose="02040503050406030204" pitchFamily="18" charset="0"/>
              </a:rPr>
              <a:t>One hot encoder</a:t>
            </a:r>
          </a:p>
        </p:txBody>
      </p:sp>
    </p:spTree>
    <p:extLst>
      <p:ext uri="{BB962C8B-B14F-4D97-AF65-F5344CB8AC3E}">
        <p14:creationId xmlns:p14="http://schemas.microsoft.com/office/powerpoint/2010/main" val="3756186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2792-79D9-4E40-BF6A-778937DE64B0}"/>
              </a:ext>
            </a:extLst>
          </p:cNvPr>
          <p:cNvSpPr>
            <a:spLocks noGrp="1"/>
          </p:cNvSpPr>
          <p:nvPr>
            <p:ph type="title"/>
          </p:nvPr>
        </p:nvSpPr>
        <p:spPr/>
        <p:txBody>
          <a:bodyPr>
            <a:normAutofit/>
          </a:bodyPr>
          <a:lstStyle/>
          <a:p>
            <a:pPr algn="ctr"/>
            <a:r>
              <a:rPr lang="en-US" sz="2400" dirty="0">
                <a:solidFill>
                  <a:srgbClr val="002060"/>
                </a:solidFill>
                <a:latin typeface="Cambria" panose="02040503050406030204" pitchFamily="18" charset="0"/>
                <a:ea typeface="Cambria" panose="02040503050406030204" pitchFamily="18" charset="0"/>
                <a:cs typeface="+mn-cs"/>
              </a:rPr>
              <a:t>Standardization</a:t>
            </a:r>
          </a:p>
        </p:txBody>
      </p:sp>
      <p:sp>
        <p:nvSpPr>
          <p:cNvPr id="3" name="Content Placeholder 2">
            <a:extLst>
              <a:ext uri="{FF2B5EF4-FFF2-40B4-BE49-F238E27FC236}">
                <a16:creationId xmlns:a16="http://schemas.microsoft.com/office/drawing/2014/main" id="{75D71952-5620-43DE-BA6F-AFFADBE943D1}"/>
              </a:ext>
            </a:extLst>
          </p:cNvPr>
          <p:cNvSpPr>
            <a:spLocks noGrp="1"/>
          </p:cNvSpPr>
          <p:nvPr>
            <p:ph idx="1"/>
          </p:nvPr>
        </p:nvSpPr>
        <p:spPr>
          <a:xfrm>
            <a:off x="381000" y="1051267"/>
            <a:ext cx="8229600" cy="3394472"/>
          </a:xfrm>
        </p:spPr>
        <p:txBody>
          <a:bodyPr>
            <a:normAutofit fontScale="85000" lnSpcReduction="20000"/>
          </a:bodyPr>
          <a:lstStyle/>
          <a:p>
            <a:pPr marL="0" indent="0" fontAlgn="base">
              <a:buNone/>
            </a:pPr>
            <a:r>
              <a:rPr lang="en-US" sz="2100" dirty="0">
                <a:solidFill>
                  <a:srgbClr val="002060"/>
                </a:solidFill>
                <a:latin typeface="Cambria" panose="02040503050406030204" pitchFamily="18" charset="0"/>
                <a:ea typeface="Cambria" panose="02040503050406030204" pitchFamily="18" charset="0"/>
              </a:rPr>
              <a:t>Standardization is another scaling technique where the values are centered around the mean with a unit standard deviation. </a:t>
            </a:r>
          </a:p>
          <a:p>
            <a:pPr marL="0" indent="0" fontAlgn="base">
              <a:buNone/>
            </a:pPr>
            <a:endParaRPr lang="en-US" sz="2100" dirty="0">
              <a:solidFill>
                <a:srgbClr val="002060"/>
              </a:solidFill>
              <a:latin typeface="Cambria" panose="02040503050406030204" pitchFamily="18" charset="0"/>
              <a:ea typeface="Cambria" panose="02040503050406030204" pitchFamily="18" charset="0"/>
            </a:endParaRPr>
          </a:p>
          <a:p>
            <a:pPr marL="0" indent="0" fontAlgn="base">
              <a:buNone/>
            </a:pPr>
            <a:r>
              <a:rPr lang="en-US" sz="2100" dirty="0">
                <a:solidFill>
                  <a:srgbClr val="002060"/>
                </a:solidFill>
                <a:latin typeface="Cambria" panose="02040503050406030204" pitchFamily="18" charset="0"/>
                <a:ea typeface="Cambria" panose="02040503050406030204" pitchFamily="18" charset="0"/>
              </a:rPr>
              <a:t>mean of the attribute becomes zero and the resultant distribution has a unit standard deviation.</a:t>
            </a:r>
          </a:p>
          <a:p>
            <a:pPr marL="0" indent="0" fontAlgn="base">
              <a:buNone/>
            </a:pPr>
            <a:endParaRPr lang="en-US" sz="2100" dirty="0">
              <a:solidFill>
                <a:srgbClr val="002060"/>
              </a:solidFill>
              <a:latin typeface="Cambria" panose="02040503050406030204" pitchFamily="18" charset="0"/>
              <a:ea typeface="Cambria" panose="02040503050406030204" pitchFamily="18" charset="0"/>
            </a:endParaRPr>
          </a:p>
          <a:p>
            <a:pPr marL="0" indent="0" fontAlgn="base">
              <a:buNone/>
            </a:pPr>
            <a:r>
              <a:rPr lang="en-US" sz="2100" dirty="0">
                <a:solidFill>
                  <a:srgbClr val="002060"/>
                </a:solidFill>
                <a:latin typeface="Cambria" panose="02040503050406030204" pitchFamily="18" charset="0"/>
                <a:ea typeface="Cambria" panose="02040503050406030204" pitchFamily="18" charset="0"/>
              </a:rPr>
              <a:t>Technique </a:t>
            </a:r>
            <a:r>
              <a:rPr lang="en-US" dirty="0">
                <a:solidFill>
                  <a:srgbClr val="002060"/>
                </a:solidFill>
                <a:latin typeface="Cambria" panose="02040503050406030204" pitchFamily="18" charset="0"/>
                <a:ea typeface="Cambria" panose="02040503050406030204" pitchFamily="18" charset="0"/>
              </a:rPr>
              <a:t>is to calculate the statistical mean and standard deviation of the attribute values, subtract the mean from each value, and divide the result by the standard deviation. </a:t>
            </a:r>
          </a:p>
          <a:p>
            <a:pPr marL="0" indent="0" fontAlgn="base">
              <a:buNone/>
            </a:pPr>
            <a:endParaRPr lang="en-US" dirty="0">
              <a:solidFill>
                <a:srgbClr val="002060"/>
              </a:solidFill>
              <a:latin typeface="Cambria" panose="02040503050406030204" pitchFamily="18" charset="0"/>
              <a:ea typeface="Cambria" panose="02040503050406030204" pitchFamily="18" charset="0"/>
            </a:endParaRPr>
          </a:p>
          <a:p>
            <a:pPr marL="0" indent="0" fontAlgn="base">
              <a:buNone/>
            </a:pPr>
            <a:r>
              <a:rPr lang="en-US" dirty="0">
                <a:solidFill>
                  <a:srgbClr val="002060"/>
                </a:solidFill>
                <a:latin typeface="Cambria" panose="02040503050406030204" pitchFamily="18" charset="0"/>
                <a:ea typeface="Cambria" panose="02040503050406030204" pitchFamily="18" charset="0"/>
              </a:rPr>
              <a:t>Formula:</a:t>
            </a:r>
          </a:p>
          <a:p>
            <a:pPr marL="0" indent="0" fontAlgn="base">
              <a:buNone/>
            </a:pPr>
            <a:r>
              <a:rPr lang="en-US" dirty="0">
                <a:solidFill>
                  <a:srgbClr val="002060"/>
                </a:solidFill>
                <a:latin typeface="Cambria" panose="02040503050406030204" pitchFamily="18" charset="0"/>
                <a:ea typeface="Cambria" panose="02040503050406030204" pitchFamily="18" charset="0"/>
              </a:rPr>
              <a:t>A value x is standardized as follows:</a:t>
            </a:r>
          </a:p>
          <a:p>
            <a:pPr marL="0" indent="0" fontAlgn="base">
              <a:buNone/>
            </a:pPr>
            <a:r>
              <a:rPr lang="en-US" dirty="0">
                <a:solidFill>
                  <a:srgbClr val="FF0000"/>
                </a:solidFill>
                <a:latin typeface="Cambria" panose="02040503050406030204" pitchFamily="18" charset="0"/>
                <a:ea typeface="Cambria" panose="02040503050406030204" pitchFamily="18" charset="0"/>
              </a:rPr>
              <a:t>Scaled value of x = (x – mean) / </a:t>
            </a:r>
            <a:r>
              <a:rPr lang="en-US" dirty="0" err="1">
                <a:solidFill>
                  <a:srgbClr val="FF0000"/>
                </a:solidFill>
                <a:latin typeface="Cambria" panose="02040503050406030204" pitchFamily="18" charset="0"/>
                <a:ea typeface="Cambria" panose="02040503050406030204" pitchFamily="18" charset="0"/>
              </a:rPr>
              <a:t>standard_deviation</a:t>
            </a:r>
            <a:endParaRPr lang="en-US" dirty="0">
              <a:solidFill>
                <a:srgbClr val="FF0000"/>
              </a:solidFill>
              <a:latin typeface="Cambria" panose="02040503050406030204" pitchFamily="18" charset="0"/>
              <a:ea typeface="Cambria" panose="02040503050406030204" pitchFamily="18" charset="0"/>
            </a:endParaRPr>
          </a:p>
          <a:p>
            <a:endParaRPr lang="en-US" dirty="0"/>
          </a:p>
        </p:txBody>
      </p:sp>
      <p:pic>
        <p:nvPicPr>
          <p:cNvPr id="4" name="Picture 3">
            <a:extLst>
              <a:ext uri="{FF2B5EF4-FFF2-40B4-BE49-F238E27FC236}">
                <a16:creationId xmlns:a16="http://schemas.microsoft.com/office/drawing/2014/main" id="{AE0B2E0A-647C-4C13-829A-E046584B4FC6}"/>
              </a:ext>
            </a:extLst>
          </p:cNvPr>
          <p:cNvPicPr>
            <a:picLocks noChangeAspect="1"/>
          </p:cNvPicPr>
          <p:nvPr/>
        </p:nvPicPr>
        <p:blipFill>
          <a:blip r:embed="rId2"/>
          <a:stretch>
            <a:fillRect/>
          </a:stretch>
        </p:blipFill>
        <p:spPr>
          <a:xfrm>
            <a:off x="6477000" y="3333750"/>
            <a:ext cx="1714500" cy="652534"/>
          </a:xfrm>
          <a:prstGeom prst="rect">
            <a:avLst/>
          </a:prstGeom>
        </p:spPr>
      </p:pic>
      <p:pic>
        <p:nvPicPr>
          <p:cNvPr id="5" name="Picture 4">
            <a:extLst>
              <a:ext uri="{FF2B5EF4-FFF2-40B4-BE49-F238E27FC236}">
                <a16:creationId xmlns:a16="http://schemas.microsoft.com/office/drawing/2014/main" id="{DB1B97E2-4234-405F-9588-5CF10D24CBD3}"/>
              </a:ext>
            </a:extLst>
          </p:cNvPr>
          <p:cNvPicPr>
            <a:picLocks noChangeAspect="1"/>
          </p:cNvPicPr>
          <p:nvPr/>
        </p:nvPicPr>
        <p:blipFill>
          <a:blip r:embed="rId3"/>
          <a:stretch>
            <a:fillRect/>
          </a:stretch>
        </p:blipFill>
        <p:spPr>
          <a:xfrm>
            <a:off x="4419600" y="3333750"/>
            <a:ext cx="1962149" cy="973350"/>
          </a:xfrm>
          <a:prstGeom prst="rect">
            <a:avLst/>
          </a:prstGeom>
        </p:spPr>
      </p:pic>
    </p:spTree>
    <p:extLst>
      <p:ext uri="{BB962C8B-B14F-4D97-AF65-F5344CB8AC3E}">
        <p14:creationId xmlns:p14="http://schemas.microsoft.com/office/powerpoint/2010/main" val="106078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150B6D-318E-222A-DFE9-B0F9D736F297}"/>
              </a:ext>
            </a:extLst>
          </p:cNvPr>
          <p:cNvSpPr>
            <a:spLocks noGrp="1"/>
          </p:cNvSpPr>
          <p:nvPr>
            <p:ph idx="1"/>
          </p:nvPr>
        </p:nvSpPr>
        <p:spPr/>
        <p:txBody>
          <a:bodyPr/>
          <a:lstStyle/>
          <a:p>
            <a:r>
              <a:rPr lang="en-US" dirty="0"/>
              <a:t>Z-standardization is a statistical procedure used to make data points from different datasets comparable. </a:t>
            </a:r>
          </a:p>
          <a:p>
            <a:endParaRPr lang="en-US" dirty="0"/>
          </a:p>
          <a:p>
            <a:r>
              <a:rPr lang="en-US" dirty="0"/>
              <a:t>Each data point is converted into a z-score. </a:t>
            </a:r>
          </a:p>
          <a:p>
            <a:endParaRPr lang="en-US" dirty="0"/>
          </a:p>
          <a:p>
            <a:r>
              <a:rPr lang="en-US" dirty="0"/>
              <a:t>A z-score indicates how many standard deviations a data point is from the mean of the dataset.</a:t>
            </a:r>
          </a:p>
        </p:txBody>
      </p:sp>
      <p:sp>
        <p:nvSpPr>
          <p:cNvPr id="3" name="Title 2">
            <a:extLst>
              <a:ext uri="{FF2B5EF4-FFF2-40B4-BE49-F238E27FC236}">
                <a16:creationId xmlns:a16="http://schemas.microsoft.com/office/drawing/2014/main" id="{E9CFF7C3-B790-89A4-0AA6-07F977EF5CC0}"/>
              </a:ext>
            </a:extLst>
          </p:cNvPr>
          <p:cNvSpPr>
            <a:spLocks noGrp="1"/>
          </p:cNvSpPr>
          <p:nvPr>
            <p:ph type="title"/>
          </p:nvPr>
        </p:nvSpPr>
        <p:spPr/>
        <p:txBody>
          <a:bodyPr>
            <a:normAutofit fontScale="90000"/>
          </a:bodyPr>
          <a:lstStyle/>
          <a:p>
            <a:r>
              <a:rPr lang="en-US" dirty="0"/>
              <a:t>	What is z-standardization?</a:t>
            </a:r>
            <a:br>
              <a:rPr lang="en-US" dirty="0"/>
            </a:br>
            <a:endParaRPr lang="en-US" dirty="0"/>
          </a:p>
        </p:txBody>
      </p:sp>
    </p:spTree>
    <p:extLst>
      <p:ext uri="{BB962C8B-B14F-4D97-AF65-F5344CB8AC3E}">
        <p14:creationId xmlns:p14="http://schemas.microsoft.com/office/powerpoint/2010/main" val="180491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1681B1-D6E9-E859-55E2-814A75DF0701}"/>
              </a:ext>
            </a:extLst>
          </p:cNvPr>
          <p:cNvPicPr>
            <a:picLocks noGrp="1" noChangeAspect="1"/>
          </p:cNvPicPr>
          <p:nvPr>
            <p:ph idx="1"/>
          </p:nvPr>
        </p:nvPicPr>
        <p:blipFill>
          <a:blip r:embed="rId2"/>
          <a:stretch>
            <a:fillRect/>
          </a:stretch>
        </p:blipFill>
        <p:spPr>
          <a:xfrm>
            <a:off x="951995" y="1474601"/>
            <a:ext cx="7240010" cy="2667372"/>
          </a:xfrm>
          <a:prstGeom prst="rect">
            <a:avLst/>
          </a:prstGeom>
        </p:spPr>
      </p:pic>
      <p:sp>
        <p:nvSpPr>
          <p:cNvPr id="3" name="Title 2">
            <a:extLst>
              <a:ext uri="{FF2B5EF4-FFF2-40B4-BE49-F238E27FC236}">
                <a16:creationId xmlns:a16="http://schemas.microsoft.com/office/drawing/2014/main" id="{744AC1A5-979A-49D5-D8FC-79C0CDA88A2F}"/>
              </a:ext>
            </a:extLst>
          </p:cNvPr>
          <p:cNvSpPr>
            <a:spLocks noGrp="1"/>
          </p:cNvSpPr>
          <p:nvPr>
            <p:ph type="title"/>
          </p:nvPr>
        </p:nvSpPr>
        <p:spPr/>
        <p:txBody>
          <a:bodyPr>
            <a:normAutofit fontScale="90000"/>
          </a:bodyPr>
          <a:lstStyle/>
          <a:p>
            <a:r>
              <a:rPr lang="en-US" dirty="0">
                <a:effectLst/>
              </a:rPr>
              <a:t>	Example of z-standardization</a:t>
            </a:r>
            <a:br>
              <a:rPr lang="en-US" dirty="0">
                <a:effectLst/>
              </a:rPr>
            </a:br>
            <a:endParaRPr lang="en-US" dirty="0"/>
          </a:p>
        </p:txBody>
      </p:sp>
    </p:spTree>
    <p:extLst>
      <p:ext uri="{BB962C8B-B14F-4D97-AF65-F5344CB8AC3E}">
        <p14:creationId xmlns:p14="http://schemas.microsoft.com/office/powerpoint/2010/main" val="183279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3312BF-6F21-9374-581A-8A57E61A1170}"/>
              </a:ext>
            </a:extLst>
          </p:cNvPr>
          <p:cNvSpPr>
            <a:spLocks noGrp="1"/>
          </p:cNvSpPr>
          <p:nvPr>
            <p:ph idx="1"/>
          </p:nvPr>
        </p:nvSpPr>
        <p:spPr/>
        <p:txBody>
          <a:bodyPr/>
          <a:lstStyle/>
          <a:p>
            <a:r>
              <a:rPr lang="en-US" dirty="0"/>
              <a:t>For example…Blood pressure is 10mmHg above average.</a:t>
            </a:r>
          </a:p>
          <a:p>
            <a:r>
              <a:rPr lang="en-US" dirty="0"/>
              <a:t>Now the question arises, whether 10mmHg is a lot or a little.</a:t>
            </a:r>
          </a:p>
          <a:p>
            <a:r>
              <a:rPr lang="en-US" dirty="0"/>
              <a:t>The standard deviation tells us how much the data is spread out.</a:t>
            </a:r>
          </a:p>
          <a:p>
            <a:r>
              <a:rPr lang="en-US" dirty="0"/>
              <a:t>If the data are close to the mean, we have a small standard deviation</a:t>
            </a:r>
          </a:p>
          <a:p>
            <a:r>
              <a:rPr lang="en-US" dirty="0"/>
              <a:t>if they are widely spread, we have a large standard deviation.</a:t>
            </a:r>
          </a:p>
        </p:txBody>
      </p:sp>
      <p:sp>
        <p:nvSpPr>
          <p:cNvPr id="3" name="Title 2">
            <a:extLst>
              <a:ext uri="{FF2B5EF4-FFF2-40B4-BE49-F238E27FC236}">
                <a16:creationId xmlns:a16="http://schemas.microsoft.com/office/drawing/2014/main" id="{0AC78C9B-B6A3-4680-362F-93462F0C946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856234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487307-199D-D6C2-3A9E-1F12A5B1BFCF}"/>
              </a:ext>
            </a:extLst>
          </p:cNvPr>
          <p:cNvPicPr>
            <a:picLocks noGrp="1" noChangeAspect="1"/>
          </p:cNvPicPr>
          <p:nvPr>
            <p:ph idx="1"/>
          </p:nvPr>
        </p:nvPicPr>
        <p:blipFill>
          <a:blip r:embed="rId2"/>
          <a:stretch>
            <a:fillRect/>
          </a:stretch>
        </p:blipFill>
        <p:spPr>
          <a:xfrm>
            <a:off x="1597543" y="1111250"/>
            <a:ext cx="5793857" cy="3305609"/>
          </a:xfrm>
          <a:prstGeom prst="rect">
            <a:avLst/>
          </a:prstGeom>
        </p:spPr>
      </p:pic>
      <p:sp>
        <p:nvSpPr>
          <p:cNvPr id="3" name="Title 2">
            <a:extLst>
              <a:ext uri="{FF2B5EF4-FFF2-40B4-BE49-F238E27FC236}">
                <a16:creationId xmlns:a16="http://schemas.microsoft.com/office/drawing/2014/main" id="{B0D3FD6E-F885-145F-3AEB-6D923A0572B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156385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B0F83C-F38A-6139-91B2-C7F8E70F7E67}"/>
              </a:ext>
            </a:extLst>
          </p:cNvPr>
          <p:cNvSpPr>
            <a:spLocks noGrp="1"/>
          </p:cNvSpPr>
          <p:nvPr>
            <p:ph idx="1"/>
          </p:nvPr>
        </p:nvSpPr>
        <p:spPr/>
        <p:txBody>
          <a:bodyPr/>
          <a:lstStyle/>
          <a:p>
            <a:r>
              <a:rPr lang="en-US" dirty="0"/>
              <a:t>If the other patients cluster very closely around the mean, then 10mmHg is a lot in relation to the spread, </a:t>
            </a:r>
          </a:p>
          <a:p>
            <a:r>
              <a:rPr lang="en-US" dirty="0"/>
              <a:t>but if the other patients spread very widely around the mean, then 10mmHg might not be that much.</a:t>
            </a:r>
          </a:p>
        </p:txBody>
      </p:sp>
      <p:sp>
        <p:nvSpPr>
          <p:cNvPr id="3" name="Title 2">
            <a:extLst>
              <a:ext uri="{FF2B5EF4-FFF2-40B4-BE49-F238E27FC236}">
                <a16:creationId xmlns:a16="http://schemas.microsoft.com/office/drawing/2014/main" id="{EB92B2BA-E124-0213-8940-6156733A97F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83088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160F99-F10A-C776-3846-43E043EE23D6}"/>
              </a:ext>
            </a:extLst>
          </p:cNvPr>
          <p:cNvPicPr>
            <a:picLocks noGrp="1" noChangeAspect="1"/>
          </p:cNvPicPr>
          <p:nvPr>
            <p:ph idx="1"/>
          </p:nvPr>
        </p:nvPicPr>
        <p:blipFill>
          <a:blip r:embed="rId2"/>
          <a:stretch>
            <a:fillRect/>
          </a:stretch>
        </p:blipFill>
        <p:spPr>
          <a:xfrm>
            <a:off x="2286000" y="-28542"/>
            <a:ext cx="4641219" cy="4933158"/>
          </a:xfrm>
          <a:prstGeom prst="rect">
            <a:avLst/>
          </a:prstGeom>
        </p:spPr>
      </p:pic>
      <p:sp>
        <p:nvSpPr>
          <p:cNvPr id="3" name="Title 2">
            <a:extLst>
              <a:ext uri="{FF2B5EF4-FFF2-40B4-BE49-F238E27FC236}">
                <a16:creationId xmlns:a16="http://schemas.microsoft.com/office/drawing/2014/main" id="{81175DD4-E61C-663D-825D-1BC6C7D4E38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725689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967ABF-3AE5-6C73-39F6-49ABD8C3448E}"/>
              </a:ext>
            </a:extLst>
          </p:cNvPr>
          <p:cNvPicPr>
            <a:picLocks noGrp="1" noChangeAspect="1"/>
          </p:cNvPicPr>
          <p:nvPr>
            <p:ph idx="1"/>
          </p:nvPr>
        </p:nvPicPr>
        <p:blipFill>
          <a:blip r:embed="rId2"/>
          <a:stretch>
            <a:fillRect/>
          </a:stretch>
        </p:blipFill>
        <p:spPr>
          <a:xfrm>
            <a:off x="961521" y="1541285"/>
            <a:ext cx="7220958" cy="2534004"/>
          </a:xfrm>
          <a:prstGeom prst="rect">
            <a:avLst/>
          </a:prstGeom>
        </p:spPr>
      </p:pic>
      <p:sp>
        <p:nvSpPr>
          <p:cNvPr id="3" name="Title 2">
            <a:extLst>
              <a:ext uri="{FF2B5EF4-FFF2-40B4-BE49-F238E27FC236}">
                <a16:creationId xmlns:a16="http://schemas.microsoft.com/office/drawing/2014/main" id="{84D281AA-4E4D-23F8-A934-1DBA548389E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256074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C5DB93-2B93-FB9F-A08B-3154CF4E72D5}"/>
              </a:ext>
            </a:extLst>
          </p:cNvPr>
          <p:cNvPicPr>
            <a:picLocks noGrp="1" noChangeAspect="1"/>
          </p:cNvPicPr>
          <p:nvPr>
            <p:ph idx="1"/>
          </p:nvPr>
        </p:nvPicPr>
        <p:blipFill>
          <a:blip r:embed="rId2"/>
          <a:stretch>
            <a:fillRect/>
          </a:stretch>
        </p:blipFill>
        <p:spPr>
          <a:xfrm>
            <a:off x="2476207" y="1784207"/>
            <a:ext cx="4191585" cy="2048161"/>
          </a:xfrm>
          <a:prstGeom prst="rect">
            <a:avLst/>
          </a:prstGeom>
        </p:spPr>
      </p:pic>
      <p:sp>
        <p:nvSpPr>
          <p:cNvPr id="3" name="Title 2">
            <a:extLst>
              <a:ext uri="{FF2B5EF4-FFF2-40B4-BE49-F238E27FC236}">
                <a16:creationId xmlns:a16="http://schemas.microsoft.com/office/drawing/2014/main" id="{5A656C4F-2FDA-7C02-2DA9-ECB5F94D66CB}"/>
              </a:ext>
            </a:extLst>
          </p:cNvPr>
          <p:cNvSpPr>
            <a:spLocks noGrp="1"/>
          </p:cNvSpPr>
          <p:nvPr>
            <p:ph type="title"/>
          </p:nvPr>
        </p:nvSpPr>
        <p:spPr/>
        <p:txBody>
          <a:bodyPr/>
          <a:lstStyle/>
          <a:p>
            <a:r>
              <a:rPr lang="en-US" dirty="0"/>
              <a:t>	Z-score Formula</a:t>
            </a:r>
          </a:p>
        </p:txBody>
      </p:sp>
    </p:spTree>
    <p:extLst>
      <p:ext uri="{BB962C8B-B14F-4D97-AF65-F5344CB8AC3E}">
        <p14:creationId xmlns:p14="http://schemas.microsoft.com/office/powerpoint/2010/main" val="1599793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98285E3-B778-7DD5-41AD-A41B05C9B597}"/>
              </a:ext>
            </a:extLst>
          </p:cNvPr>
          <p:cNvPicPr>
            <a:picLocks noGrp="1" noChangeAspect="1"/>
          </p:cNvPicPr>
          <p:nvPr>
            <p:ph idx="1"/>
          </p:nvPr>
        </p:nvPicPr>
        <p:blipFill>
          <a:blip r:embed="rId2"/>
          <a:stretch>
            <a:fillRect/>
          </a:stretch>
        </p:blipFill>
        <p:spPr>
          <a:xfrm>
            <a:off x="1373562" y="1111250"/>
            <a:ext cx="6396876" cy="3394075"/>
          </a:xfrm>
          <a:prstGeom prst="rect">
            <a:avLst/>
          </a:prstGeom>
        </p:spPr>
      </p:pic>
      <p:sp>
        <p:nvSpPr>
          <p:cNvPr id="3" name="Title 2">
            <a:extLst>
              <a:ext uri="{FF2B5EF4-FFF2-40B4-BE49-F238E27FC236}">
                <a16:creationId xmlns:a16="http://schemas.microsoft.com/office/drawing/2014/main" id="{8197CCA8-AA37-DDDD-7115-E1579520D13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538989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6215AD-BAD4-3EE6-C961-2C55B77D696D}"/>
              </a:ext>
            </a:extLst>
          </p:cNvPr>
          <p:cNvSpPr>
            <a:spLocks noGrp="1"/>
          </p:cNvSpPr>
          <p:nvPr>
            <p:ph idx="1"/>
          </p:nvPr>
        </p:nvSpPr>
        <p:spPr/>
        <p:txBody>
          <a:bodyPr/>
          <a:lstStyle/>
          <a:p>
            <a:r>
              <a:rPr lang="en-US" dirty="0"/>
              <a:t>Let's say this patient has a blood pressure of 97</a:t>
            </a:r>
          </a:p>
          <a:p>
            <a:r>
              <a:rPr lang="en-US" dirty="0"/>
              <a:t>What will be the z-score value??</a:t>
            </a:r>
          </a:p>
        </p:txBody>
      </p:sp>
      <p:sp>
        <p:nvSpPr>
          <p:cNvPr id="3" name="Title 2">
            <a:extLst>
              <a:ext uri="{FF2B5EF4-FFF2-40B4-BE49-F238E27FC236}">
                <a16:creationId xmlns:a16="http://schemas.microsoft.com/office/drawing/2014/main" id="{9B3BCE6C-B75F-9A39-A061-613B9CA15FA2}"/>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4501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17CC31B-9289-DF23-CEE4-2CA570894058}"/>
              </a:ext>
            </a:extLst>
          </p:cNvPr>
          <p:cNvPicPr>
            <a:picLocks noGrp="1" noChangeAspect="1"/>
          </p:cNvPicPr>
          <p:nvPr>
            <p:ph idx="1"/>
          </p:nvPr>
        </p:nvPicPr>
        <p:blipFill>
          <a:blip r:embed="rId2"/>
          <a:stretch>
            <a:fillRect/>
          </a:stretch>
        </p:blipFill>
        <p:spPr>
          <a:xfrm>
            <a:off x="2080855" y="1111250"/>
            <a:ext cx="4982290" cy="3394075"/>
          </a:xfrm>
          <a:prstGeom prst="rect">
            <a:avLst/>
          </a:prstGeom>
        </p:spPr>
      </p:pic>
      <p:sp>
        <p:nvSpPr>
          <p:cNvPr id="3" name="Title 2">
            <a:extLst>
              <a:ext uri="{FF2B5EF4-FFF2-40B4-BE49-F238E27FC236}">
                <a16:creationId xmlns:a16="http://schemas.microsoft.com/office/drawing/2014/main" id="{E69A4AC3-9F66-9849-1038-407BB9EC24E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52896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E72D7A-0A8E-886E-F428-845C2C0423BE}"/>
              </a:ext>
            </a:extLst>
          </p:cNvPr>
          <p:cNvPicPr>
            <a:picLocks noGrp="1" noChangeAspect="1"/>
          </p:cNvPicPr>
          <p:nvPr>
            <p:ph idx="1"/>
          </p:nvPr>
        </p:nvPicPr>
        <p:blipFill>
          <a:blip r:embed="rId2"/>
          <a:stretch>
            <a:fillRect/>
          </a:stretch>
        </p:blipFill>
        <p:spPr>
          <a:xfrm>
            <a:off x="2438400" y="205980"/>
            <a:ext cx="4898161" cy="4610686"/>
          </a:xfrm>
          <a:prstGeom prst="rect">
            <a:avLst/>
          </a:prstGeom>
        </p:spPr>
      </p:pic>
      <p:sp>
        <p:nvSpPr>
          <p:cNvPr id="3" name="Title 2">
            <a:extLst>
              <a:ext uri="{FF2B5EF4-FFF2-40B4-BE49-F238E27FC236}">
                <a16:creationId xmlns:a16="http://schemas.microsoft.com/office/drawing/2014/main" id="{E73C43B1-164A-B08E-2F7E-784DB2AFD93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94058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388119-B0C5-4ECD-F8BD-0D82D7F52096}"/>
              </a:ext>
            </a:extLst>
          </p:cNvPr>
          <p:cNvPicPr>
            <a:picLocks noGrp="1" noChangeAspect="1"/>
          </p:cNvPicPr>
          <p:nvPr>
            <p:ph idx="1"/>
          </p:nvPr>
        </p:nvPicPr>
        <p:blipFill>
          <a:blip r:embed="rId2"/>
          <a:stretch>
            <a:fillRect/>
          </a:stretch>
        </p:blipFill>
        <p:spPr>
          <a:xfrm>
            <a:off x="2325675" y="361950"/>
            <a:ext cx="5031189" cy="4419600"/>
          </a:xfrm>
          <a:prstGeom prst="rect">
            <a:avLst/>
          </a:prstGeom>
        </p:spPr>
      </p:pic>
      <p:sp>
        <p:nvSpPr>
          <p:cNvPr id="3" name="Title 2">
            <a:extLst>
              <a:ext uri="{FF2B5EF4-FFF2-40B4-BE49-F238E27FC236}">
                <a16:creationId xmlns:a16="http://schemas.microsoft.com/office/drawing/2014/main" id="{15171AED-09CD-8009-3029-A37C5BD638D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921112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279C67-9FC3-0E12-BBFA-B505CF48A6F3}"/>
              </a:ext>
            </a:extLst>
          </p:cNvPr>
          <p:cNvSpPr>
            <a:spLocks noGrp="1"/>
          </p:cNvSpPr>
          <p:nvPr>
            <p:ph idx="1"/>
          </p:nvPr>
        </p:nvSpPr>
        <p:spPr/>
        <p:txBody>
          <a:bodyPr/>
          <a:lstStyle/>
          <a:p>
            <a:r>
              <a:rPr lang="en-US" dirty="0"/>
              <a:t>For example, if we want to know what percentage of patients have a blood pressure below 123???</a:t>
            </a:r>
          </a:p>
        </p:txBody>
      </p:sp>
      <p:sp>
        <p:nvSpPr>
          <p:cNvPr id="3" name="Title 2">
            <a:extLst>
              <a:ext uri="{FF2B5EF4-FFF2-40B4-BE49-F238E27FC236}">
                <a16:creationId xmlns:a16="http://schemas.microsoft.com/office/drawing/2014/main" id="{358691B9-E6D4-AD80-D855-A846E487145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128104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85DF9C-D0F6-36BB-3C34-C72472D0E2CE}"/>
              </a:ext>
            </a:extLst>
          </p:cNvPr>
          <p:cNvSpPr>
            <a:spLocks noGrp="1"/>
          </p:cNvSpPr>
          <p:nvPr>
            <p:ph idx="1"/>
          </p:nvPr>
        </p:nvSpPr>
        <p:spPr/>
        <p:txBody>
          <a:bodyPr>
            <a:normAutofit fontScale="77500" lnSpcReduction="20000"/>
          </a:bodyPr>
          <a:lstStyle/>
          <a:p>
            <a:r>
              <a:rPr lang="en-US" dirty="0"/>
              <a:t>A person who deviates by minus one standard deviation has a z-score of -1, a person who deviates by minus two standard deviations has a z-score of -2, and a person who deviates by minus three standard deviations has a z-score of -3.</a:t>
            </a:r>
          </a:p>
          <a:p>
            <a:endParaRPr lang="en-US" dirty="0"/>
          </a:p>
          <a:p>
            <a:r>
              <a:rPr lang="en-US" dirty="0"/>
              <a:t>And if a person has exactly the value of the mean, then they deviate by zero standard deviations from the mean and receive a score of zero.</a:t>
            </a:r>
          </a:p>
          <a:p>
            <a:endParaRPr lang="en-US" dirty="0"/>
          </a:p>
          <a:p>
            <a:r>
              <a:rPr lang="en-US" dirty="0"/>
              <a:t>The z-score indicates how many standard deviations a measurement is from the mean. </a:t>
            </a:r>
          </a:p>
          <a:p>
            <a:endParaRPr lang="en-US" dirty="0"/>
          </a:p>
          <a:p>
            <a:r>
              <a:rPr lang="en-US" dirty="0"/>
              <a:t>The standard deviation is just a measure of the dispersion of the patients' blood pressure around the mean.</a:t>
            </a:r>
          </a:p>
          <a:p>
            <a:endParaRPr lang="en-US" dirty="0"/>
          </a:p>
          <a:p>
            <a:r>
              <a:rPr lang="en-US" dirty="0"/>
              <a:t>So, the z-score helps us understand how exceptional or normal a particular measurement is compared to the overall average.</a:t>
            </a:r>
          </a:p>
        </p:txBody>
      </p:sp>
      <p:sp>
        <p:nvSpPr>
          <p:cNvPr id="3" name="Title 2">
            <a:extLst>
              <a:ext uri="{FF2B5EF4-FFF2-40B4-BE49-F238E27FC236}">
                <a16:creationId xmlns:a16="http://schemas.microsoft.com/office/drawing/2014/main" id="{020A761A-98AA-49C9-6B61-B39CF468C5D3}"/>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5114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 calcmode="lin" valueType="num">
                                      <p:cBhvr additive="base">
                                        <p:cTn id="25" dur="500" fill="hold"/>
                                        <p:tgtEl>
                                          <p:spTgt spid="2">
                                            <p:txEl>
                                              <p:pRg st="6" end="6"/>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 calcmode="lin" valueType="num">
                                      <p:cBhvr additive="base">
                                        <p:cTn id="31" dur="500" fill="hold"/>
                                        <p:tgtEl>
                                          <p:spTgt spid="2">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0B9186A-BAEA-997A-2D43-C76E92DE0A41}"/>
              </a:ext>
            </a:extLst>
          </p:cNvPr>
          <p:cNvPicPr>
            <a:picLocks noGrp="1" noChangeAspect="1"/>
          </p:cNvPicPr>
          <p:nvPr>
            <p:ph idx="1"/>
          </p:nvPr>
        </p:nvPicPr>
        <p:blipFill>
          <a:blip r:embed="rId2"/>
          <a:stretch>
            <a:fillRect/>
          </a:stretch>
        </p:blipFill>
        <p:spPr>
          <a:xfrm>
            <a:off x="3221357" y="285750"/>
            <a:ext cx="3689627" cy="4219575"/>
          </a:xfrm>
          <a:prstGeom prst="rect">
            <a:avLst/>
          </a:prstGeom>
        </p:spPr>
      </p:pic>
      <p:sp>
        <p:nvSpPr>
          <p:cNvPr id="3" name="Title 2">
            <a:extLst>
              <a:ext uri="{FF2B5EF4-FFF2-40B4-BE49-F238E27FC236}">
                <a16:creationId xmlns:a16="http://schemas.microsoft.com/office/drawing/2014/main" id="{6EAD5315-64F7-EF6B-4B03-1D954785B5EB}"/>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560683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A2CB0E-938E-A81F-C8C0-E688CADCACF8}"/>
              </a:ext>
            </a:extLst>
          </p:cNvPr>
          <p:cNvSpPr>
            <a:spLocks noGrp="1"/>
          </p:cNvSpPr>
          <p:nvPr>
            <p:ph idx="1"/>
          </p:nvPr>
        </p:nvSpPr>
        <p:spPr/>
        <p:txBody>
          <a:bodyPr/>
          <a:lstStyle/>
          <a:p>
            <a:r>
              <a:rPr lang="en-US" dirty="0"/>
              <a:t>we have a value of 0.3632. </a:t>
            </a:r>
          </a:p>
          <a:p>
            <a:r>
              <a:rPr lang="en-US" dirty="0"/>
              <a:t>This means that 36.32 percent of the values are smaller than a z-value of -0.35 and 63.68 percent are larger.</a:t>
            </a:r>
          </a:p>
        </p:txBody>
      </p:sp>
      <p:sp>
        <p:nvSpPr>
          <p:cNvPr id="3" name="Title 2">
            <a:extLst>
              <a:ext uri="{FF2B5EF4-FFF2-40B4-BE49-F238E27FC236}">
                <a16:creationId xmlns:a16="http://schemas.microsoft.com/office/drawing/2014/main" id="{DEAC3887-C199-71BC-3AF4-77F985FF0991}"/>
              </a:ext>
            </a:extLst>
          </p:cNvPr>
          <p:cNvSpPr>
            <a:spLocks noGrp="1"/>
          </p:cNvSpPr>
          <p:nvPr>
            <p:ph type="title"/>
          </p:nvPr>
        </p:nvSpPr>
        <p:spPr/>
        <p:txBody>
          <a:bodyPr/>
          <a:lstStyle/>
          <a:p>
            <a:r>
              <a:rPr lang="en-US" dirty="0"/>
              <a:t>	Conclusion</a:t>
            </a:r>
          </a:p>
        </p:txBody>
      </p:sp>
    </p:spTree>
    <p:extLst>
      <p:ext uri="{BB962C8B-B14F-4D97-AF65-F5344CB8AC3E}">
        <p14:creationId xmlns:p14="http://schemas.microsoft.com/office/powerpoint/2010/main" val="1969265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7D1DCC-ACCB-CBCA-C15D-C005AAD0A750}"/>
              </a:ext>
            </a:extLst>
          </p:cNvPr>
          <p:cNvPicPr>
            <a:picLocks noGrp="1" noChangeAspect="1"/>
          </p:cNvPicPr>
          <p:nvPr>
            <p:ph idx="1"/>
          </p:nvPr>
        </p:nvPicPr>
        <p:blipFill>
          <a:blip r:embed="rId2"/>
          <a:stretch>
            <a:fillRect/>
          </a:stretch>
        </p:blipFill>
        <p:spPr>
          <a:xfrm>
            <a:off x="1809364" y="1431733"/>
            <a:ext cx="5525271" cy="2753109"/>
          </a:xfrm>
          <a:prstGeom prst="rect">
            <a:avLst/>
          </a:prstGeom>
        </p:spPr>
      </p:pic>
      <p:sp>
        <p:nvSpPr>
          <p:cNvPr id="3" name="Title 2">
            <a:extLst>
              <a:ext uri="{FF2B5EF4-FFF2-40B4-BE49-F238E27FC236}">
                <a16:creationId xmlns:a16="http://schemas.microsoft.com/office/drawing/2014/main" id="{9CC4A6A1-E915-0D79-9EE1-F715249CB1EA}"/>
              </a:ext>
            </a:extLst>
          </p:cNvPr>
          <p:cNvSpPr>
            <a:spLocks noGrp="1"/>
          </p:cNvSpPr>
          <p:nvPr>
            <p:ph type="title"/>
          </p:nvPr>
        </p:nvSpPr>
        <p:spPr/>
        <p:txBody>
          <a:bodyPr/>
          <a:lstStyle/>
          <a:p>
            <a:r>
              <a:rPr lang="en-US" dirty="0"/>
              <a:t>Example to calculate the z-score value</a:t>
            </a:r>
          </a:p>
        </p:txBody>
      </p:sp>
    </p:spTree>
    <p:extLst>
      <p:ext uri="{BB962C8B-B14F-4D97-AF65-F5344CB8AC3E}">
        <p14:creationId xmlns:p14="http://schemas.microsoft.com/office/powerpoint/2010/main" val="2282977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E1017E-DFA4-7C24-A2DE-981374AA3740}"/>
              </a:ext>
            </a:extLst>
          </p:cNvPr>
          <p:cNvSpPr>
            <a:spLocks noGrp="1"/>
          </p:cNvSpPr>
          <p:nvPr>
            <p:ph idx="1"/>
          </p:nvPr>
        </p:nvSpPr>
        <p:spPr/>
        <p:txBody>
          <a:bodyPr/>
          <a:lstStyle/>
          <a:p>
            <a:r>
              <a:rPr lang="en-US" dirty="0"/>
              <a:t>Mean=?</a:t>
            </a:r>
          </a:p>
          <a:p>
            <a:r>
              <a:rPr lang="en-US" dirty="0"/>
              <a:t>Standard deviation=?</a:t>
            </a:r>
          </a:p>
        </p:txBody>
      </p:sp>
      <p:sp>
        <p:nvSpPr>
          <p:cNvPr id="3" name="Title 2">
            <a:extLst>
              <a:ext uri="{FF2B5EF4-FFF2-40B4-BE49-F238E27FC236}">
                <a16:creationId xmlns:a16="http://schemas.microsoft.com/office/drawing/2014/main" id="{228113A7-5FED-6DF6-7C7C-DC1F9979DC6D}"/>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15368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AF205-7128-AFCC-2C1A-E63C53A47AF9}"/>
              </a:ext>
            </a:extLst>
          </p:cNvPr>
          <p:cNvSpPr>
            <a:spLocks noGrp="1"/>
          </p:cNvSpPr>
          <p:nvPr>
            <p:ph idx="1"/>
          </p:nvPr>
        </p:nvSpPr>
        <p:spPr/>
        <p:txBody>
          <a:bodyPr/>
          <a:lstStyle/>
          <a:p>
            <a:r>
              <a:rPr lang="en-US" dirty="0"/>
              <a:t>The StandardScaler is a preprocessing class in scikit-learn (sklearn) that transforms numerical features </a:t>
            </a:r>
          </a:p>
          <a:p>
            <a:r>
              <a:rPr lang="en-US" dirty="0"/>
              <a:t> with mean = 0Standard deviation = 1</a:t>
            </a:r>
          </a:p>
          <a:p>
            <a:r>
              <a:rPr lang="en-US" dirty="0"/>
              <a:t>This process is called standardization or z-score normalization.</a:t>
            </a:r>
          </a:p>
        </p:txBody>
      </p:sp>
      <p:sp>
        <p:nvSpPr>
          <p:cNvPr id="3" name="Title 2">
            <a:extLst>
              <a:ext uri="{FF2B5EF4-FFF2-40B4-BE49-F238E27FC236}">
                <a16:creationId xmlns:a16="http://schemas.microsoft.com/office/drawing/2014/main" id="{D337E3DC-8A71-A33B-BAA4-576021D8A901}"/>
              </a:ext>
            </a:extLst>
          </p:cNvPr>
          <p:cNvSpPr>
            <a:spLocks noGrp="1"/>
          </p:cNvSpPr>
          <p:nvPr>
            <p:ph type="title"/>
          </p:nvPr>
        </p:nvSpPr>
        <p:spPr/>
        <p:txBody>
          <a:bodyPr/>
          <a:lstStyle/>
          <a:p>
            <a:r>
              <a:rPr lang="en-US" dirty="0"/>
              <a:t>Implementation in Python</a:t>
            </a:r>
          </a:p>
        </p:txBody>
      </p:sp>
    </p:spTree>
    <p:extLst>
      <p:ext uri="{BB962C8B-B14F-4D97-AF65-F5344CB8AC3E}">
        <p14:creationId xmlns:p14="http://schemas.microsoft.com/office/powerpoint/2010/main" val="417477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176AADB-170E-2889-397F-743BA4379D79}"/>
              </a:ext>
            </a:extLst>
          </p:cNvPr>
          <p:cNvGraphicFramePr>
            <a:graphicFrameLocks noGrp="1"/>
          </p:cNvGraphicFramePr>
          <p:nvPr>
            <p:ph idx="1"/>
          </p:nvPr>
        </p:nvGraphicFramePr>
        <p:xfrm>
          <a:off x="457200" y="1390967"/>
          <a:ext cx="8229600" cy="2834640"/>
        </p:xfrm>
        <a:graphic>
          <a:graphicData uri="http://schemas.openxmlformats.org/drawingml/2006/table">
            <a:tbl>
              <a:tblPr/>
              <a:tblGrid>
                <a:gridCol w="4114800">
                  <a:extLst>
                    <a:ext uri="{9D8B030D-6E8A-4147-A177-3AD203B41FA5}">
                      <a16:colId xmlns:a16="http://schemas.microsoft.com/office/drawing/2014/main" val="4022871463"/>
                    </a:ext>
                  </a:extLst>
                </a:gridCol>
                <a:gridCol w="4114800">
                  <a:extLst>
                    <a:ext uri="{9D8B030D-6E8A-4147-A177-3AD203B41FA5}">
                      <a16:colId xmlns:a16="http://schemas.microsoft.com/office/drawing/2014/main" val="3519801799"/>
                    </a:ext>
                  </a:extLst>
                </a:gridCol>
              </a:tblGrid>
              <a:tr h="0">
                <a:tc>
                  <a:txBody>
                    <a:bodyPr/>
                    <a:lstStyle/>
                    <a:p>
                      <a:pPr>
                        <a:buNone/>
                      </a:pPr>
                      <a:r>
                        <a:rPr lang="en-US"/>
                        <a:t>Method</a:t>
                      </a:r>
                    </a:p>
                  </a:txBody>
                  <a:tcPr anchor="ctr">
                    <a:lnL>
                      <a:noFill/>
                    </a:lnL>
                    <a:lnR>
                      <a:noFill/>
                    </a:lnR>
                    <a:lnT>
                      <a:noFill/>
                    </a:lnT>
                    <a:lnB>
                      <a:noFill/>
                    </a:lnB>
                    <a:noFill/>
                  </a:tcPr>
                </a:tc>
                <a:tc>
                  <a:txBody>
                    <a:bodyPr/>
                    <a:lstStyle/>
                    <a:p>
                      <a:pPr>
                        <a:buNone/>
                      </a:pPr>
                      <a:r>
                        <a:rPr lang="en-US"/>
                        <a:t>Description</a:t>
                      </a:r>
                    </a:p>
                  </a:txBody>
                  <a:tcPr anchor="ctr">
                    <a:lnL>
                      <a:noFill/>
                    </a:lnL>
                    <a:lnR>
                      <a:noFill/>
                    </a:lnR>
                    <a:lnT>
                      <a:noFill/>
                    </a:lnT>
                    <a:lnB>
                      <a:noFill/>
                    </a:lnB>
                    <a:noFill/>
                  </a:tcPr>
                </a:tc>
                <a:extLst>
                  <a:ext uri="{0D108BD9-81ED-4DB2-BD59-A6C34878D82A}">
                    <a16:rowId xmlns:a16="http://schemas.microsoft.com/office/drawing/2014/main" val="2751003113"/>
                  </a:ext>
                </a:extLst>
              </a:tr>
              <a:tr h="0">
                <a:tc>
                  <a:txBody>
                    <a:bodyPr/>
                    <a:lstStyle/>
                    <a:p>
                      <a:pPr>
                        <a:buNone/>
                      </a:pPr>
                      <a:r>
                        <a:rPr lang="en-US">
                          <a:latin typeface="Courier New" panose="02070309020205020404" pitchFamily="49" charset="0"/>
                        </a:rPr>
                        <a:t>.fit(X)</a:t>
                      </a:r>
                      <a:endParaRPr lang="en-US"/>
                    </a:p>
                  </a:txBody>
                  <a:tcPr anchor="ctr">
                    <a:lnL>
                      <a:noFill/>
                    </a:lnL>
                    <a:lnR>
                      <a:noFill/>
                    </a:lnR>
                    <a:lnT>
                      <a:noFill/>
                    </a:lnT>
                    <a:lnB>
                      <a:noFill/>
                    </a:lnB>
                    <a:noFill/>
                  </a:tcPr>
                </a:tc>
                <a:tc>
                  <a:txBody>
                    <a:bodyPr/>
                    <a:lstStyle/>
                    <a:p>
                      <a:pPr>
                        <a:buNone/>
                      </a:pPr>
                      <a:r>
                        <a:rPr lang="en-US"/>
                        <a:t>Learns mean and std for each feature</a:t>
                      </a:r>
                    </a:p>
                  </a:txBody>
                  <a:tcPr anchor="ctr">
                    <a:lnL>
                      <a:noFill/>
                    </a:lnL>
                    <a:lnR>
                      <a:noFill/>
                    </a:lnR>
                    <a:lnT>
                      <a:noFill/>
                    </a:lnT>
                    <a:lnB>
                      <a:noFill/>
                    </a:lnB>
                    <a:noFill/>
                  </a:tcPr>
                </a:tc>
                <a:extLst>
                  <a:ext uri="{0D108BD9-81ED-4DB2-BD59-A6C34878D82A}">
                    <a16:rowId xmlns:a16="http://schemas.microsoft.com/office/drawing/2014/main" val="911215167"/>
                  </a:ext>
                </a:extLst>
              </a:tr>
              <a:tr h="0">
                <a:tc>
                  <a:txBody>
                    <a:bodyPr/>
                    <a:lstStyle/>
                    <a:p>
                      <a:pPr>
                        <a:buNone/>
                      </a:pPr>
                      <a:r>
                        <a:rPr lang="en-US">
                          <a:latin typeface="Courier New" panose="02070309020205020404" pitchFamily="49" charset="0"/>
                        </a:rPr>
                        <a:t>.transform(X)</a:t>
                      </a:r>
                      <a:endParaRPr lang="en-US"/>
                    </a:p>
                  </a:txBody>
                  <a:tcPr anchor="ctr">
                    <a:lnL>
                      <a:noFill/>
                    </a:lnL>
                    <a:lnR>
                      <a:noFill/>
                    </a:lnR>
                    <a:lnT>
                      <a:noFill/>
                    </a:lnT>
                    <a:lnB>
                      <a:noFill/>
                    </a:lnB>
                    <a:noFill/>
                  </a:tcPr>
                </a:tc>
                <a:tc>
                  <a:txBody>
                    <a:bodyPr/>
                    <a:lstStyle/>
                    <a:p>
                      <a:pPr>
                        <a:buNone/>
                      </a:pPr>
                      <a:r>
                        <a:rPr lang="en-US"/>
                        <a:t>Applies scaling using learned parameters</a:t>
                      </a:r>
                    </a:p>
                  </a:txBody>
                  <a:tcPr anchor="ctr">
                    <a:lnL>
                      <a:noFill/>
                    </a:lnL>
                    <a:lnR>
                      <a:noFill/>
                    </a:lnR>
                    <a:lnT>
                      <a:noFill/>
                    </a:lnT>
                    <a:lnB>
                      <a:noFill/>
                    </a:lnB>
                    <a:noFill/>
                  </a:tcPr>
                </a:tc>
                <a:extLst>
                  <a:ext uri="{0D108BD9-81ED-4DB2-BD59-A6C34878D82A}">
                    <a16:rowId xmlns:a16="http://schemas.microsoft.com/office/drawing/2014/main" val="1179373945"/>
                  </a:ext>
                </a:extLst>
              </a:tr>
              <a:tr h="0">
                <a:tc>
                  <a:txBody>
                    <a:bodyPr/>
                    <a:lstStyle/>
                    <a:p>
                      <a:pPr>
                        <a:buNone/>
                      </a:pPr>
                      <a:r>
                        <a:rPr lang="en-US">
                          <a:latin typeface="Courier New" panose="02070309020205020404" pitchFamily="49" charset="0"/>
                        </a:rPr>
                        <a:t>.fit_transform(X)</a:t>
                      </a:r>
                      <a:endParaRPr lang="en-US"/>
                    </a:p>
                  </a:txBody>
                  <a:tcPr anchor="ctr">
                    <a:lnL>
                      <a:noFill/>
                    </a:lnL>
                    <a:lnR>
                      <a:noFill/>
                    </a:lnR>
                    <a:lnT>
                      <a:noFill/>
                    </a:lnT>
                    <a:lnB>
                      <a:noFill/>
                    </a:lnB>
                    <a:noFill/>
                  </a:tcPr>
                </a:tc>
                <a:tc>
                  <a:txBody>
                    <a:bodyPr/>
                    <a:lstStyle/>
                    <a:p>
                      <a:pPr>
                        <a:buNone/>
                      </a:pPr>
                      <a:r>
                        <a:rPr lang="en-US"/>
                        <a:t>Does both in one step</a:t>
                      </a:r>
                    </a:p>
                  </a:txBody>
                  <a:tcPr anchor="ctr">
                    <a:lnL>
                      <a:noFill/>
                    </a:lnL>
                    <a:lnR>
                      <a:noFill/>
                    </a:lnR>
                    <a:lnT>
                      <a:noFill/>
                    </a:lnT>
                    <a:lnB>
                      <a:noFill/>
                    </a:lnB>
                    <a:noFill/>
                  </a:tcPr>
                </a:tc>
                <a:extLst>
                  <a:ext uri="{0D108BD9-81ED-4DB2-BD59-A6C34878D82A}">
                    <a16:rowId xmlns:a16="http://schemas.microsoft.com/office/drawing/2014/main" val="2065317764"/>
                  </a:ext>
                </a:extLst>
              </a:tr>
              <a:tr h="0">
                <a:tc>
                  <a:txBody>
                    <a:bodyPr/>
                    <a:lstStyle/>
                    <a:p>
                      <a:pPr>
                        <a:buNone/>
                      </a:pPr>
                      <a:r>
                        <a:rPr lang="en-US">
                          <a:latin typeface="Courier New" panose="02070309020205020404" pitchFamily="49" charset="0"/>
                        </a:rPr>
                        <a:t>.inverse_transform(X)</a:t>
                      </a:r>
                      <a:endParaRPr lang="en-US"/>
                    </a:p>
                  </a:txBody>
                  <a:tcPr anchor="ctr">
                    <a:lnL>
                      <a:noFill/>
                    </a:lnL>
                    <a:lnR>
                      <a:noFill/>
                    </a:lnR>
                    <a:lnT>
                      <a:noFill/>
                    </a:lnT>
                    <a:lnB>
                      <a:noFill/>
                    </a:lnB>
                    <a:noFill/>
                  </a:tcPr>
                </a:tc>
                <a:tc>
                  <a:txBody>
                    <a:bodyPr/>
                    <a:lstStyle/>
                    <a:p>
                      <a:pPr>
                        <a:buNone/>
                      </a:pPr>
                      <a:r>
                        <a:rPr lang="en-US"/>
                        <a:t>Converts standardized data back to original scale</a:t>
                      </a:r>
                    </a:p>
                  </a:txBody>
                  <a:tcPr anchor="ctr">
                    <a:lnL>
                      <a:noFill/>
                    </a:lnL>
                    <a:lnR>
                      <a:noFill/>
                    </a:lnR>
                    <a:lnT>
                      <a:noFill/>
                    </a:lnT>
                    <a:lnB>
                      <a:noFill/>
                    </a:lnB>
                    <a:noFill/>
                  </a:tcPr>
                </a:tc>
                <a:extLst>
                  <a:ext uri="{0D108BD9-81ED-4DB2-BD59-A6C34878D82A}">
                    <a16:rowId xmlns:a16="http://schemas.microsoft.com/office/drawing/2014/main" val="441471060"/>
                  </a:ext>
                </a:extLst>
              </a:tr>
              <a:tr h="0">
                <a:tc>
                  <a:txBody>
                    <a:bodyPr/>
                    <a:lstStyle/>
                    <a:p>
                      <a:pPr>
                        <a:buNone/>
                      </a:pPr>
                      <a:r>
                        <a:rPr lang="en-US">
                          <a:latin typeface="Courier New" panose="02070309020205020404" pitchFamily="49" charset="0"/>
                        </a:rPr>
                        <a:t>.mean_</a:t>
                      </a:r>
                      <a:endParaRPr lang="en-US"/>
                    </a:p>
                  </a:txBody>
                  <a:tcPr anchor="ctr">
                    <a:lnL>
                      <a:noFill/>
                    </a:lnL>
                    <a:lnR>
                      <a:noFill/>
                    </a:lnR>
                    <a:lnT>
                      <a:noFill/>
                    </a:lnT>
                    <a:lnB>
                      <a:noFill/>
                    </a:lnB>
                    <a:noFill/>
                  </a:tcPr>
                </a:tc>
                <a:tc>
                  <a:txBody>
                    <a:bodyPr/>
                    <a:lstStyle/>
                    <a:p>
                      <a:pPr>
                        <a:buNone/>
                      </a:pPr>
                      <a:r>
                        <a:rPr lang="en-US"/>
                        <a:t>Stores the learned mean</a:t>
                      </a:r>
                    </a:p>
                  </a:txBody>
                  <a:tcPr anchor="ctr">
                    <a:lnL>
                      <a:noFill/>
                    </a:lnL>
                    <a:lnR>
                      <a:noFill/>
                    </a:lnR>
                    <a:lnT>
                      <a:noFill/>
                    </a:lnT>
                    <a:lnB>
                      <a:noFill/>
                    </a:lnB>
                    <a:noFill/>
                  </a:tcPr>
                </a:tc>
                <a:extLst>
                  <a:ext uri="{0D108BD9-81ED-4DB2-BD59-A6C34878D82A}">
                    <a16:rowId xmlns:a16="http://schemas.microsoft.com/office/drawing/2014/main" val="708286763"/>
                  </a:ext>
                </a:extLst>
              </a:tr>
              <a:tr h="0">
                <a:tc>
                  <a:txBody>
                    <a:bodyPr/>
                    <a:lstStyle/>
                    <a:p>
                      <a:pPr>
                        <a:buNone/>
                      </a:pPr>
                      <a:r>
                        <a:rPr lang="en-US">
                          <a:latin typeface="Courier New" panose="02070309020205020404" pitchFamily="49" charset="0"/>
                        </a:rPr>
                        <a:t>.scale_</a:t>
                      </a:r>
                      <a:endParaRPr lang="en-US"/>
                    </a:p>
                  </a:txBody>
                  <a:tcPr anchor="ctr">
                    <a:lnL>
                      <a:noFill/>
                    </a:lnL>
                    <a:lnR>
                      <a:noFill/>
                    </a:lnR>
                    <a:lnT>
                      <a:noFill/>
                    </a:lnT>
                    <a:lnB>
                      <a:noFill/>
                    </a:lnB>
                    <a:noFill/>
                  </a:tcPr>
                </a:tc>
                <a:tc>
                  <a:txBody>
                    <a:bodyPr/>
                    <a:lstStyle/>
                    <a:p>
                      <a:pPr>
                        <a:buNone/>
                      </a:pPr>
                      <a:r>
                        <a:rPr lang="en-US" dirty="0"/>
                        <a:t>Stores the learned standard deviation</a:t>
                      </a:r>
                    </a:p>
                  </a:txBody>
                  <a:tcPr anchor="ctr">
                    <a:lnL>
                      <a:noFill/>
                    </a:lnL>
                    <a:lnR>
                      <a:noFill/>
                    </a:lnR>
                    <a:lnT>
                      <a:noFill/>
                    </a:lnT>
                    <a:lnB>
                      <a:noFill/>
                    </a:lnB>
                    <a:noFill/>
                  </a:tcPr>
                </a:tc>
                <a:extLst>
                  <a:ext uri="{0D108BD9-81ED-4DB2-BD59-A6C34878D82A}">
                    <a16:rowId xmlns:a16="http://schemas.microsoft.com/office/drawing/2014/main" val="739421081"/>
                  </a:ext>
                </a:extLst>
              </a:tr>
            </a:tbl>
          </a:graphicData>
        </a:graphic>
      </p:graphicFrame>
      <p:sp>
        <p:nvSpPr>
          <p:cNvPr id="3" name="Title 2">
            <a:extLst>
              <a:ext uri="{FF2B5EF4-FFF2-40B4-BE49-F238E27FC236}">
                <a16:creationId xmlns:a16="http://schemas.microsoft.com/office/drawing/2014/main" id="{B9AE1962-26BE-51ED-45C3-26E3FD15B0CC}"/>
              </a:ext>
            </a:extLst>
          </p:cNvPr>
          <p:cNvSpPr>
            <a:spLocks noGrp="1"/>
          </p:cNvSpPr>
          <p:nvPr>
            <p:ph type="title"/>
          </p:nvPr>
        </p:nvSpPr>
        <p:spPr/>
        <p:txBody>
          <a:bodyPr/>
          <a:lstStyle/>
          <a:p>
            <a:endParaRPr lang="en-US" dirty="0"/>
          </a:p>
        </p:txBody>
      </p:sp>
      <p:sp>
        <p:nvSpPr>
          <p:cNvPr id="5" name="Rectangle 1">
            <a:extLst>
              <a:ext uri="{FF2B5EF4-FFF2-40B4-BE49-F238E27FC236}">
                <a16:creationId xmlns:a16="http://schemas.microsoft.com/office/drawing/2014/main" id="{D6E4DDCF-143F-B7D3-A655-22C68D3F0B67}"/>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Important Methods in </a:t>
            </a:r>
            <a:r>
              <a:rPr kumimoji="0" lang="en-US" altLang="en-US" sz="1000" b="1" i="0" u="none" strike="noStrike" cap="none" normalizeH="0" baseline="0" dirty="0">
                <a:ln>
                  <a:noFill/>
                </a:ln>
                <a:solidFill>
                  <a:schemeClr val="tx1"/>
                </a:solidFill>
                <a:effectLst/>
                <a:latin typeface="Arial Unicode MS"/>
              </a:rPr>
              <a:t>StandardScaler</a:t>
            </a:r>
            <a:endParaRPr kumimoji="0" lang="en-US" altLang="en-US" sz="1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7066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3113-DD99-49FF-81DB-8E584B99E199}"/>
              </a:ext>
            </a:extLst>
          </p:cNvPr>
          <p:cNvSpPr>
            <a:spLocks noGrp="1"/>
          </p:cNvSpPr>
          <p:nvPr>
            <p:ph type="title"/>
          </p:nvPr>
        </p:nvSpPr>
        <p:spPr/>
        <p:txBody>
          <a:bodyPr/>
          <a:lstStyle/>
          <a:p>
            <a:pPr algn="ctr">
              <a:spcBef>
                <a:spcPts val="750"/>
              </a:spcBef>
            </a:pPr>
            <a:r>
              <a:rPr lang="en-US" sz="2400" dirty="0">
                <a:solidFill>
                  <a:srgbClr val="002060"/>
                </a:solidFill>
                <a:latin typeface="Cambria" panose="02040503050406030204" pitchFamily="18" charset="0"/>
                <a:ea typeface="Cambria" panose="02040503050406030204" pitchFamily="18" charset="0"/>
                <a:cs typeface="+mn-cs"/>
              </a:rPr>
              <a:t>Normalization</a:t>
            </a:r>
          </a:p>
        </p:txBody>
      </p:sp>
      <p:sp>
        <p:nvSpPr>
          <p:cNvPr id="3" name="Content Placeholder 2">
            <a:extLst>
              <a:ext uri="{FF2B5EF4-FFF2-40B4-BE49-F238E27FC236}">
                <a16:creationId xmlns:a16="http://schemas.microsoft.com/office/drawing/2014/main" id="{248CF865-0013-4226-98FC-35E4950B98EF}"/>
              </a:ext>
            </a:extLst>
          </p:cNvPr>
          <p:cNvSpPr>
            <a:spLocks noGrp="1"/>
          </p:cNvSpPr>
          <p:nvPr>
            <p:ph idx="1"/>
          </p:nvPr>
        </p:nvSpPr>
        <p:spPr>
          <a:xfrm>
            <a:off x="628650" y="1147150"/>
            <a:ext cx="7886700" cy="3263504"/>
          </a:xfrm>
        </p:spPr>
        <p:txBody>
          <a:bodyPr>
            <a:normAutofit/>
          </a:bodyPr>
          <a:lstStyle/>
          <a:p>
            <a:pPr marL="0" indent="0" fontAlgn="base">
              <a:buNone/>
            </a:pPr>
            <a:r>
              <a:rPr lang="en-US" dirty="0">
                <a:solidFill>
                  <a:srgbClr val="002060"/>
                </a:solidFill>
                <a:latin typeface="Cambria" panose="02040503050406030204" pitchFamily="18" charset="0"/>
                <a:ea typeface="Cambria" panose="02040503050406030204" pitchFamily="18" charset="0"/>
              </a:rPr>
              <a:t>Normalization is a rescaling of the data from the original range so that all values are within the new range of 0 and 1.</a:t>
            </a:r>
          </a:p>
          <a:p>
            <a:pPr marL="0" indent="0" fontAlgn="base">
              <a:buNone/>
            </a:pPr>
            <a:r>
              <a:rPr lang="en-US" dirty="0">
                <a:solidFill>
                  <a:srgbClr val="002060"/>
                </a:solidFill>
                <a:latin typeface="Cambria" panose="02040503050406030204" pitchFamily="18" charset="0"/>
                <a:ea typeface="Cambria" panose="02040503050406030204" pitchFamily="18" charset="0"/>
              </a:rPr>
              <a:t>Attributes are often normalized to lie in a fixed range — usually from zero to one—by dividing all values by the maximum value encountered or by subtracting the minimum value and dividing by the range b</a:t>
            </a:r>
          </a:p>
          <a:p>
            <a:pPr marL="0" indent="0" fontAlgn="base">
              <a:buNone/>
            </a:pPr>
            <a:r>
              <a:rPr lang="en-US" dirty="0">
                <a:solidFill>
                  <a:srgbClr val="002060"/>
                </a:solidFill>
                <a:latin typeface="Cambria" panose="02040503050406030204" pitchFamily="18" charset="0"/>
                <a:ea typeface="Cambria" panose="02040503050406030204" pitchFamily="18" charset="0"/>
              </a:rPr>
              <a:t>A value is normalized as following formula:</a:t>
            </a:r>
          </a:p>
          <a:p>
            <a:pPr marL="0" indent="0" fontAlgn="base">
              <a:buNone/>
            </a:pPr>
            <a:r>
              <a:rPr lang="en-US" dirty="0">
                <a:solidFill>
                  <a:srgbClr val="FF0000"/>
                </a:solidFill>
                <a:latin typeface="Cambria" panose="02040503050406030204" pitchFamily="18" charset="0"/>
                <a:ea typeface="Cambria" panose="02040503050406030204" pitchFamily="18" charset="0"/>
              </a:rPr>
              <a:t>y = (x – min) / (max – min)</a:t>
            </a:r>
          </a:p>
          <a:p>
            <a:pPr marL="0" indent="0" fontAlgn="base">
              <a:buNone/>
            </a:pPr>
            <a:r>
              <a:rPr lang="en-US" dirty="0">
                <a:solidFill>
                  <a:srgbClr val="002060"/>
                </a:solidFill>
                <a:latin typeface="Cambria" panose="02040503050406030204" pitchFamily="18" charset="0"/>
                <a:ea typeface="Cambria" panose="02040503050406030204" pitchFamily="18" charset="0"/>
              </a:rPr>
              <a:t>Where the minimum and maximum values pertain to the value x being normalized between the maximum and minimum values.</a:t>
            </a:r>
          </a:p>
        </p:txBody>
      </p:sp>
    </p:spTree>
    <p:extLst>
      <p:ext uri="{BB962C8B-B14F-4D97-AF65-F5344CB8AC3E}">
        <p14:creationId xmlns:p14="http://schemas.microsoft.com/office/powerpoint/2010/main" val="1517719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D010-E508-4ACF-B871-D985DD06CFE0}"/>
              </a:ext>
            </a:extLst>
          </p:cNvPr>
          <p:cNvSpPr>
            <a:spLocks noGrp="1"/>
          </p:cNvSpPr>
          <p:nvPr>
            <p:ph type="title"/>
          </p:nvPr>
        </p:nvSpPr>
        <p:spPr/>
        <p:txBody>
          <a:bodyPr/>
          <a:lstStyle/>
          <a:p>
            <a:pPr algn="ctr">
              <a:spcBef>
                <a:spcPts val="750"/>
              </a:spcBef>
            </a:pPr>
            <a:r>
              <a:rPr lang="en-US" sz="2400" dirty="0">
                <a:solidFill>
                  <a:srgbClr val="002060"/>
                </a:solidFill>
                <a:latin typeface="Cambria" panose="02040503050406030204" pitchFamily="18" charset="0"/>
                <a:ea typeface="Cambria" panose="02040503050406030204" pitchFamily="18" charset="0"/>
                <a:cs typeface="+mn-cs"/>
              </a:rPr>
              <a:t>Min-Max scaler</a:t>
            </a:r>
          </a:p>
        </p:txBody>
      </p:sp>
      <p:sp>
        <p:nvSpPr>
          <p:cNvPr id="3" name="Content Placeholder 2">
            <a:extLst>
              <a:ext uri="{FF2B5EF4-FFF2-40B4-BE49-F238E27FC236}">
                <a16:creationId xmlns:a16="http://schemas.microsoft.com/office/drawing/2014/main" id="{7C818B0D-5A0D-4EBD-B3C8-4434BBEA3547}"/>
              </a:ext>
            </a:extLst>
          </p:cNvPr>
          <p:cNvSpPr>
            <a:spLocks noGrp="1"/>
          </p:cNvSpPr>
          <p:nvPr>
            <p:ph idx="1"/>
          </p:nvPr>
        </p:nvSpPr>
        <p:spPr>
          <a:xfrm>
            <a:off x="256359" y="1268016"/>
            <a:ext cx="7886700" cy="3263504"/>
          </a:xfrm>
        </p:spPr>
        <p:txBody>
          <a:bodyPr/>
          <a:lstStyle/>
          <a:p>
            <a:pPr marL="0" indent="0" fontAlgn="base">
              <a:buNone/>
            </a:pPr>
            <a:r>
              <a:rPr lang="en-US" dirty="0">
                <a:solidFill>
                  <a:srgbClr val="002060"/>
                </a:solidFill>
                <a:latin typeface="Cambria" panose="02040503050406030204" pitchFamily="18" charset="0"/>
                <a:ea typeface="Cambria" panose="02040503050406030204" pitchFamily="18" charset="0"/>
              </a:rPr>
              <a:t>We can apply the </a:t>
            </a:r>
            <a:r>
              <a:rPr lang="en-US" dirty="0" err="1">
                <a:solidFill>
                  <a:srgbClr val="002060"/>
                </a:solidFill>
                <a:latin typeface="Cambria" panose="02040503050406030204" pitchFamily="18" charset="0"/>
                <a:ea typeface="Cambria" panose="02040503050406030204" pitchFamily="18" charset="0"/>
              </a:rPr>
              <a:t>MinMaxScaler</a:t>
            </a:r>
            <a:r>
              <a:rPr lang="en-US" dirty="0">
                <a:solidFill>
                  <a:srgbClr val="002060"/>
                </a:solidFill>
                <a:latin typeface="Cambria" panose="02040503050406030204" pitchFamily="18" charset="0"/>
                <a:ea typeface="Cambria" panose="02040503050406030204" pitchFamily="18" charset="0"/>
              </a:rPr>
              <a:t> to normalize the input variables.</a:t>
            </a:r>
          </a:p>
          <a:p>
            <a:pPr marL="0" indent="0" fontAlgn="base">
              <a:buNone/>
            </a:pPr>
            <a:r>
              <a:rPr lang="en-US" dirty="0">
                <a:solidFill>
                  <a:srgbClr val="002060"/>
                </a:solidFill>
                <a:latin typeface="Cambria" panose="02040503050406030204" pitchFamily="18" charset="0"/>
                <a:ea typeface="Cambria" panose="02040503050406030204" pitchFamily="18" charset="0"/>
              </a:rPr>
              <a:t>what will be the new value for any value x ?</a:t>
            </a:r>
          </a:p>
          <a:p>
            <a:pPr marL="0" indent="0" fontAlgn="base">
              <a:buNone/>
            </a:pPr>
            <a:r>
              <a:rPr lang="en-US" dirty="0">
                <a:solidFill>
                  <a:srgbClr val="002060"/>
                </a:solidFill>
                <a:latin typeface="Cambria" panose="02040503050406030204" pitchFamily="18" charset="0"/>
                <a:ea typeface="Cambria" panose="02040503050406030204" pitchFamily="18" charset="0"/>
              </a:rPr>
              <a:t>new max=1 and new min =0</a:t>
            </a:r>
          </a:p>
          <a:p>
            <a:pPr marL="0" indent="0" fontAlgn="base">
              <a:buNone/>
            </a:pPr>
            <a:r>
              <a:rPr lang="en-US" dirty="0">
                <a:solidFill>
                  <a:srgbClr val="002060"/>
                </a:solidFill>
                <a:latin typeface="Cambria" panose="02040503050406030204" pitchFamily="18" charset="0"/>
                <a:ea typeface="Cambria" panose="02040503050406030204" pitchFamily="18" charset="0"/>
              </a:rPr>
              <a:t>(X-</a:t>
            </a:r>
            <a:r>
              <a:rPr lang="en-US" dirty="0" err="1">
                <a:solidFill>
                  <a:srgbClr val="002060"/>
                </a:solidFill>
                <a:latin typeface="Cambria" panose="02040503050406030204" pitchFamily="18" charset="0"/>
                <a:ea typeface="Cambria" panose="02040503050406030204" pitchFamily="18" charset="0"/>
              </a:rPr>
              <a:t>minvalue</a:t>
            </a:r>
            <a:r>
              <a:rPr lang="en-US" dirty="0">
                <a:solidFill>
                  <a:srgbClr val="002060"/>
                </a:solidFill>
                <a:latin typeface="Cambria" panose="02040503050406030204" pitchFamily="18" charset="0"/>
                <a:ea typeface="Cambria" panose="02040503050406030204" pitchFamily="18" charset="0"/>
              </a:rPr>
              <a:t>/(max value-min value))*((new max-new min)+new min</a:t>
            </a:r>
          </a:p>
        </p:txBody>
      </p:sp>
    </p:spTree>
    <p:extLst>
      <p:ext uri="{BB962C8B-B14F-4D97-AF65-F5344CB8AC3E}">
        <p14:creationId xmlns:p14="http://schemas.microsoft.com/office/powerpoint/2010/main" val="55071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2C1F197-F04E-537E-83B0-728E6F2EFEF1}"/>
              </a:ext>
            </a:extLst>
          </p:cNvPr>
          <p:cNvPicPr>
            <a:picLocks noGrp="1" noChangeAspect="1"/>
          </p:cNvPicPr>
          <p:nvPr>
            <p:ph idx="1"/>
          </p:nvPr>
        </p:nvPicPr>
        <p:blipFill>
          <a:blip r:embed="rId2"/>
          <a:stretch>
            <a:fillRect/>
          </a:stretch>
        </p:blipFill>
        <p:spPr>
          <a:xfrm>
            <a:off x="1999891" y="1374575"/>
            <a:ext cx="5144218" cy="286742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itle 2">
            <a:extLst>
              <a:ext uri="{FF2B5EF4-FFF2-40B4-BE49-F238E27FC236}">
                <a16:creationId xmlns:a16="http://schemas.microsoft.com/office/drawing/2014/main" id="{788CFF04-4BA8-3F29-2887-B4070C95607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30410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8BB632-9D7E-153A-BD98-2728D6F80CFA}"/>
              </a:ext>
            </a:extLst>
          </p:cNvPr>
          <p:cNvPicPr>
            <a:picLocks noGrp="1" noChangeAspect="1"/>
          </p:cNvPicPr>
          <p:nvPr>
            <p:ph idx="1"/>
          </p:nvPr>
        </p:nvPicPr>
        <p:blipFill>
          <a:blip r:embed="rId2"/>
          <a:stretch>
            <a:fillRect/>
          </a:stretch>
        </p:blipFill>
        <p:spPr>
          <a:xfrm>
            <a:off x="975810" y="1355522"/>
            <a:ext cx="7192379" cy="290553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Title 2">
            <a:extLst>
              <a:ext uri="{FF2B5EF4-FFF2-40B4-BE49-F238E27FC236}">
                <a16:creationId xmlns:a16="http://schemas.microsoft.com/office/drawing/2014/main" id="{1AB5793A-CCFB-CFC1-011A-5C48C788748A}"/>
              </a:ext>
            </a:extLst>
          </p:cNvPr>
          <p:cNvSpPr>
            <a:spLocks noGrp="1"/>
          </p:cNvSpPr>
          <p:nvPr>
            <p:ph type="title"/>
          </p:nvPr>
        </p:nvSpPr>
        <p:spPr/>
        <p:txBody>
          <a:bodyPr/>
          <a:lstStyle/>
          <a:p>
            <a:r>
              <a:rPr lang="en-US" dirty="0"/>
              <a:t>Normalized Dataset</a:t>
            </a:r>
          </a:p>
        </p:txBody>
      </p:sp>
    </p:spTree>
    <p:extLst>
      <p:ext uri="{BB962C8B-B14F-4D97-AF65-F5344CB8AC3E}">
        <p14:creationId xmlns:p14="http://schemas.microsoft.com/office/powerpoint/2010/main" val="13063453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86A47E4-5009-F6F7-DE40-F04681038D22}"/>
              </a:ext>
            </a:extLst>
          </p:cNvPr>
          <p:cNvPicPr>
            <a:picLocks noGrp="1" noChangeAspect="1"/>
          </p:cNvPicPr>
          <p:nvPr>
            <p:ph idx="1"/>
          </p:nvPr>
        </p:nvPicPr>
        <p:blipFill>
          <a:blip r:embed="rId2"/>
          <a:stretch>
            <a:fillRect/>
          </a:stretch>
        </p:blipFill>
        <p:spPr>
          <a:xfrm>
            <a:off x="457200" y="1515742"/>
            <a:ext cx="8229600" cy="2585090"/>
          </a:xfrm>
          <a:prstGeom prst="rect">
            <a:avLst/>
          </a:prstGeom>
        </p:spPr>
      </p:pic>
      <p:sp>
        <p:nvSpPr>
          <p:cNvPr id="3" name="Title 2">
            <a:extLst>
              <a:ext uri="{FF2B5EF4-FFF2-40B4-BE49-F238E27FC236}">
                <a16:creationId xmlns:a16="http://schemas.microsoft.com/office/drawing/2014/main" id="{1ECA3380-F7BD-2B97-488F-53A7253F7BB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165543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235918-43F0-3E1F-F544-B9AC365A7429}"/>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8F134D6A-98D1-AE2A-45BB-F05ED21EEEE3}"/>
              </a:ext>
            </a:extLst>
          </p:cNvPr>
          <p:cNvSpPr>
            <a:spLocks noGrp="1"/>
          </p:cNvSpPr>
          <p:nvPr>
            <p:ph type="title"/>
          </p:nvPr>
        </p:nvSpPr>
        <p:spPr/>
        <p:txBody>
          <a:bodyPr>
            <a:normAutofit fontScale="90000"/>
          </a:bodyPr>
          <a:lstStyle/>
          <a:p>
            <a:r>
              <a:rPr lang="en-US" dirty="0"/>
              <a:t>When to use Standardization and Normalization?</a:t>
            </a:r>
          </a:p>
        </p:txBody>
      </p:sp>
    </p:spTree>
    <p:extLst>
      <p:ext uri="{BB962C8B-B14F-4D97-AF65-F5344CB8AC3E}">
        <p14:creationId xmlns:p14="http://schemas.microsoft.com/office/powerpoint/2010/main" val="2907617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E67E02-CF43-8187-9DFF-972C30A9A74E}"/>
              </a:ext>
            </a:extLst>
          </p:cNvPr>
          <p:cNvSpPr>
            <a:spLocks noGrp="1"/>
          </p:cNvSpPr>
          <p:nvPr>
            <p:ph idx="1"/>
          </p:nvPr>
        </p:nvSpPr>
        <p:spPr/>
        <p:txBody>
          <a:bodyPr/>
          <a:lstStyle/>
          <a:p>
            <a:r>
              <a:rPr lang="en-US" dirty="0"/>
              <a:t>The mean and standard deviation of the feature values are known.</a:t>
            </a:r>
          </a:p>
          <a:p>
            <a:r>
              <a:rPr lang="en-US" dirty="0"/>
              <a:t>The feature distribution is assumed to be Gaussian (Normal).</a:t>
            </a:r>
          </a:p>
          <a:p>
            <a:r>
              <a:rPr lang="en-US" dirty="0"/>
              <a:t>The rescaled values doesn’t need to be in a fixed range.</a:t>
            </a:r>
          </a:p>
          <a:p>
            <a:r>
              <a:rPr lang="en-US" dirty="0"/>
              <a:t>When the input features need to be centered around mean.</a:t>
            </a:r>
          </a:p>
          <a:p>
            <a:endParaRPr lang="en-US" dirty="0"/>
          </a:p>
        </p:txBody>
      </p:sp>
      <p:sp>
        <p:nvSpPr>
          <p:cNvPr id="3" name="Title 2">
            <a:extLst>
              <a:ext uri="{FF2B5EF4-FFF2-40B4-BE49-F238E27FC236}">
                <a16:creationId xmlns:a16="http://schemas.microsoft.com/office/drawing/2014/main" id="{D275E258-5362-F4EC-41BD-CFE33CA3C09F}"/>
              </a:ext>
            </a:extLst>
          </p:cNvPr>
          <p:cNvSpPr>
            <a:spLocks noGrp="1"/>
          </p:cNvSpPr>
          <p:nvPr>
            <p:ph type="title"/>
          </p:nvPr>
        </p:nvSpPr>
        <p:spPr/>
        <p:txBody>
          <a:bodyPr>
            <a:normAutofit fontScale="90000"/>
          </a:bodyPr>
          <a:lstStyle/>
          <a:p>
            <a:r>
              <a:rPr lang="en-US" dirty="0"/>
              <a:t>Best to use standardization when:</a:t>
            </a:r>
            <a:br>
              <a:rPr lang="en-US" dirty="0"/>
            </a:br>
            <a:endParaRPr lang="en-US" dirty="0"/>
          </a:p>
        </p:txBody>
      </p:sp>
    </p:spTree>
    <p:extLst>
      <p:ext uri="{BB962C8B-B14F-4D97-AF65-F5344CB8AC3E}">
        <p14:creationId xmlns:p14="http://schemas.microsoft.com/office/powerpoint/2010/main" val="1663547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AA7A-ACD9-D72C-EB26-E8093E3B87E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065E6F-6C3A-54DD-0403-5B1AF9868B39}"/>
              </a:ext>
            </a:extLst>
          </p:cNvPr>
          <p:cNvSpPr>
            <a:spLocks noGrp="1"/>
          </p:cNvSpPr>
          <p:nvPr>
            <p:ph idx="1"/>
          </p:nvPr>
        </p:nvSpPr>
        <p:spPr/>
        <p:txBody>
          <a:bodyPr/>
          <a:lstStyle/>
          <a:p>
            <a:r>
              <a:rPr lang="en-US" dirty="0"/>
              <a:t>The minimum and maximum value of the feature are known.</a:t>
            </a:r>
          </a:p>
          <a:p>
            <a:r>
              <a:rPr lang="en-US" dirty="0"/>
              <a:t>The feature distribution is unknown or is not Gaussian (Normal).</a:t>
            </a:r>
          </a:p>
          <a:p>
            <a:r>
              <a:rPr lang="en-US" dirty="0"/>
              <a:t>The rescaled values need to be in a fixed range.</a:t>
            </a:r>
          </a:p>
          <a:p>
            <a:endParaRPr lang="en-US" dirty="0"/>
          </a:p>
        </p:txBody>
      </p:sp>
      <p:sp>
        <p:nvSpPr>
          <p:cNvPr id="3" name="Title 2">
            <a:extLst>
              <a:ext uri="{FF2B5EF4-FFF2-40B4-BE49-F238E27FC236}">
                <a16:creationId xmlns:a16="http://schemas.microsoft.com/office/drawing/2014/main" id="{BF8F5E04-4A36-00B6-AC30-D64A01D06923}"/>
              </a:ext>
            </a:extLst>
          </p:cNvPr>
          <p:cNvSpPr>
            <a:spLocks noGrp="1"/>
          </p:cNvSpPr>
          <p:nvPr>
            <p:ph type="title"/>
          </p:nvPr>
        </p:nvSpPr>
        <p:spPr/>
        <p:txBody>
          <a:bodyPr>
            <a:normAutofit fontScale="90000"/>
          </a:bodyPr>
          <a:lstStyle/>
          <a:p>
            <a:r>
              <a:rPr lang="en-US" dirty="0"/>
              <a:t>Best to use Normalization when:</a:t>
            </a:r>
            <a:br>
              <a:rPr lang="en-US" dirty="0"/>
            </a:br>
            <a:endParaRPr lang="en-US" dirty="0"/>
          </a:p>
        </p:txBody>
      </p:sp>
    </p:spTree>
    <p:extLst>
      <p:ext uri="{BB962C8B-B14F-4D97-AF65-F5344CB8AC3E}">
        <p14:creationId xmlns:p14="http://schemas.microsoft.com/office/powerpoint/2010/main" val="3513775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5B97B5-AD1D-4AAA-A431-81C4D12E31D1}"/>
              </a:ext>
            </a:extLst>
          </p:cNvPr>
          <p:cNvPicPr>
            <a:picLocks noGrp="1" noChangeAspect="1"/>
          </p:cNvPicPr>
          <p:nvPr>
            <p:ph idx="1"/>
          </p:nvPr>
        </p:nvPicPr>
        <p:blipFill>
          <a:blip r:embed="rId2"/>
          <a:stretch>
            <a:fillRect/>
          </a:stretch>
        </p:blipFill>
        <p:spPr>
          <a:xfrm>
            <a:off x="2379239" y="1111250"/>
            <a:ext cx="4385521" cy="3394075"/>
          </a:xfrm>
        </p:spPr>
      </p:pic>
      <p:sp>
        <p:nvSpPr>
          <p:cNvPr id="3" name="Title 2">
            <a:extLst>
              <a:ext uri="{FF2B5EF4-FFF2-40B4-BE49-F238E27FC236}">
                <a16:creationId xmlns:a16="http://schemas.microsoft.com/office/drawing/2014/main" id="{48FC6474-D53B-474E-95CE-F0B25C04D9E5}"/>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416462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977455-40DC-6A3F-D51B-D49FAB28BA10}"/>
              </a:ext>
            </a:extLst>
          </p:cNvPr>
          <p:cNvSpPr>
            <a:spLocks noGrp="1"/>
          </p:cNvSpPr>
          <p:nvPr>
            <p:ph idx="1"/>
          </p:nvPr>
        </p:nvSpPr>
        <p:spPr/>
        <p:txBody>
          <a:bodyPr/>
          <a:lstStyle/>
          <a:p>
            <a:r>
              <a:rPr lang="en-US" dirty="0"/>
              <a:t>It helps you make informed decisions regarding data preprocessing when you are using a particular dataset and a particular machine learning model. </a:t>
            </a:r>
          </a:p>
          <a:p>
            <a:r>
              <a:rPr lang="en-US" dirty="0"/>
              <a:t>If this difference is ignored, it can lead to faulty predictions and unreliable results.</a:t>
            </a:r>
          </a:p>
          <a:p>
            <a:endParaRPr lang="en-US" dirty="0"/>
          </a:p>
        </p:txBody>
      </p:sp>
      <p:sp>
        <p:nvSpPr>
          <p:cNvPr id="3" name="Title 2">
            <a:extLst>
              <a:ext uri="{FF2B5EF4-FFF2-40B4-BE49-F238E27FC236}">
                <a16:creationId xmlns:a16="http://schemas.microsoft.com/office/drawing/2014/main" id="{57AD9A8F-F28A-946D-9B43-5A495A5E76DA}"/>
              </a:ext>
            </a:extLst>
          </p:cNvPr>
          <p:cNvSpPr>
            <a:spLocks noGrp="1"/>
          </p:cNvSpPr>
          <p:nvPr>
            <p:ph type="title"/>
          </p:nvPr>
        </p:nvSpPr>
        <p:spPr/>
        <p:txBody>
          <a:bodyPr>
            <a:normAutofit fontScale="90000"/>
          </a:bodyPr>
          <a:lstStyle/>
          <a:p>
            <a:r>
              <a:rPr lang="en-US" dirty="0"/>
              <a:t>Why is it important to know the difference between Normalization and Standardization?</a:t>
            </a:r>
            <a:br>
              <a:rPr lang="en-US" dirty="0"/>
            </a:br>
            <a:endParaRPr lang="en-US" dirty="0"/>
          </a:p>
        </p:txBody>
      </p:sp>
    </p:spTree>
    <p:extLst>
      <p:ext uri="{BB962C8B-B14F-4D97-AF65-F5344CB8AC3E}">
        <p14:creationId xmlns:p14="http://schemas.microsoft.com/office/powerpoint/2010/main" val="18387736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01921-B156-4626-B1C8-82A661DD19C5}"/>
              </a:ext>
            </a:extLst>
          </p:cNvPr>
          <p:cNvSpPr>
            <a:spLocks noGrp="1"/>
          </p:cNvSpPr>
          <p:nvPr>
            <p:ph type="title"/>
          </p:nvPr>
        </p:nvSpPr>
        <p:spPr/>
        <p:txBody>
          <a:bodyPr>
            <a:normAutofit/>
          </a:bodyPr>
          <a:lstStyle/>
          <a:p>
            <a:pPr algn="ctr">
              <a:spcBef>
                <a:spcPts val="750"/>
              </a:spcBef>
            </a:pPr>
            <a:r>
              <a:rPr lang="en-US" sz="2400" dirty="0">
                <a:solidFill>
                  <a:srgbClr val="002060"/>
                </a:solidFill>
                <a:latin typeface="Cambria" panose="02040503050406030204" pitchFamily="18" charset="0"/>
                <a:ea typeface="Cambria" panose="02040503050406030204" pitchFamily="18" charset="0"/>
                <a:cs typeface="+mn-cs"/>
              </a:rPr>
              <a:t>Binarization</a:t>
            </a:r>
          </a:p>
        </p:txBody>
      </p:sp>
      <p:sp>
        <p:nvSpPr>
          <p:cNvPr id="3" name="Content Placeholder 2">
            <a:extLst>
              <a:ext uri="{FF2B5EF4-FFF2-40B4-BE49-F238E27FC236}">
                <a16:creationId xmlns:a16="http://schemas.microsoft.com/office/drawing/2014/main" id="{1686B174-0639-49FC-B1A3-FBBE93DA0FA0}"/>
              </a:ext>
            </a:extLst>
          </p:cNvPr>
          <p:cNvSpPr>
            <a:spLocks noGrp="1"/>
          </p:cNvSpPr>
          <p:nvPr>
            <p:ph idx="1"/>
          </p:nvPr>
        </p:nvSpPr>
        <p:spPr/>
        <p:txBody>
          <a:bodyPr/>
          <a:lstStyle/>
          <a:p>
            <a:r>
              <a:rPr lang="en-US" dirty="0">
                <a:solidFill>
                  <a:srgbClr val="002060"/>
                </a:solidFill>
                <a:latin typeface="Cambria" panose="02040503050406030204" pitchFamily="18" charset="0"/>
                <a:ea typeface="Cambria" panose="02040503050406030204" pitchFamily="18" charset="0"/>
              </a:rPr>
              <a:t>The </a:t>
            </a:r>
            <a:r>
              <a:rPr lang="en-US" dirty="0" err="1">
                <a:solidFill>
                  <a:srgbClr val="002060"/>
                </a:solidFill>
                <a:latin typeface="Cambria" panose="02040503050406030204" pitchFamily="18" charset="0"/>
                <a:ea typeface="Cambria" panose="02040503050406030204" pitchFamily="18" charset="0"/>
              </a:rPr>
              <a:t>preprocessing.Binarizer</a:t>
            </a:r>
            <a:r>
              <a:rPr lang="en-US" dirty="0">
                <a:solidFill>
                  <a:srgbClr val="002060"/>
                </a:solidFill>
                <a:latin typeface="Cambria" panose="02040503050406030204" pitchFamily="18" charset="0"/>
                <a:ea typeface="Cambria" panose="02040503050406030204" pitchFamily="18" charset="0"/>
              </a:rPr>
              <a:t>() function binarizes data according to an imposed threshold. Values greater than the threshold map to 1, while values less than or equal to the threshold map to 0.</a:t>
            </a:r>
          </a:p>
        </p:txBody>
      </p:sp>
    </p:spTree>
    <p:extLst>
      <p:ext uri="{BB962C8B-B14F-4D97-AF65-F5344CB8AC3E}">
        <p14:creationId xmlns:p14="http://schemas.microsoft.com/office/powerpoint/2010/main" val="41194375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1E62F-5168-45C0-A5CE-0B561BEC6436}"/>
              </a:ext>
            </a:extLst>
          </p:cNvPr>
          <p:cNvSpPr>
            <a:spLocks noGrp="1"/>
          </p:cNvSpPr>
          <p:nvPr>
            <p:ph type="title"/>
          </p:nvPr>
        </p:nvSpPr>
        <p:spPr/>
        <p:txBody>
          <a:bodyPr/>
          <a:lstStyle/>
          <a:p>
            <a:pPr algn="ctr">
              <a:spcBef>
                <a:spcPts val="750"/>
              </a:spcBef>
            </a:pPr>
            <a:r>
              <a:rPr lang="en-US" sz="2400" dirty="0">
                <a:solidFill>
                  <a:srgbClr val="002060"/>
                </a:solidFill>
                <a:latin typeface="Cambria" panose="02040503050406030204" pitchFamily="18" charset="0"/>
                <a:ea typeface="Cambria" panose="02040503050406030204" pitchFamily="18" charset="0"/>
                <a:cs typeface="+mn-cs"/>
              </a:rPr>
              <a:t>Label encoder and One hot encoding</a:t>
            </a:r>
          </a:p>
        </p:txBody>
      </p:sp>
      <p:sp>
        <p:nvSpPr>
          <p:cNvPr id="3" name="Content Placeholder 2">
            <a:extLst>
              <a:ext uri="{FF2B5EF4-FFF2-40B4-BE49-F238E27FC236}">
                <a16:creationId xmlns:a16="http://schemas.microsoft.com/office/drawing/2014/main" id="{002F2680-C66B-4F2B-AE78-FBEB137C9726}"/>
              </a:ext>
            </a:extLst>
          </p:cNvPr>
          <p:cNvSpPr>
            <a:spLocks noGrp="1"/>
          </p:cNvSpPr>
          <p:nvPr>
            <p:ph idx="1"/>
          </p:nvPr>
        </p:nvSpPr>
        <p:spPr/>
        <p:txBody>
          <a:bodyPr/>
          <a:lstStyle/>
          <a:p>
            <a:pPr algn="just"/>
            <a:r>
              <a:rPr lang="en-US" dirty="0">
                <a:solidFill>
                  <a:srgbClr val="002060"/>
                </a:solidFill>
                <a:latin typeface="Cambria" panose="02040503050406030204" pitchFamily="18" charset="0"/>
                <a:ea typeface="Cambria" panose="02040503050406030204" pitchFamily="18" charset="0"/>
              </a:rPr>
              <a:t>Encode the levels of categorical features into numeric values. </a:t>
            </a:r>
          </a:p>
          <a:p>
            <a:pPr algn="just"/>
            <a:r>
              <a:rPr lang="en-US" dirty="0" err="1">
                <a:solidFill>
                  <a:srgbClr val="002060"/>
                </a:solidFill>
                <a:latin typeface="Cambria" panose="02040503050406030204" pitchFamily="18" charset="0"/>
                <a:ea typeface="Cambria" panose="02040503050406030204" pitchFamily="18" charset="0"/>
              </a:rPr>
              <a:t>LabelEncoder</a:t>
            </a:r>
            <a:r>
              <a:rPr lang="en-US" dirty="0">
                <a:solidFill>
                  <a:srgbClr val="002060"/>
                </a:solidFill>
                <a:latin typeface="Cambria" panose="02040503050406030204" pitchFamily="18" charset="0"/>
                <a:ea typeface="Cambria" panose="02040503050406030204" pitchFamily="18" charset="0"/>
              </a:rPr>
              <a:t> encode labels with a value between 0 and n_classes-1 where n is the number of distinct labels.</a:t>
            </a:r>
          </a:p>
          <a:p>
            <a:pPr algn="just"/>
            <a:r>
              <a:rPr lang="en-US" dirty="0">
                <a:solidFill>
                  <a:srgbClr val="002060"/>
                </a:solidFill>
                <a:latin typeface="Cambria" panose="02040503050406030204" pitchFamily="18" charset="0"/>
                <a:ea typeface="Cambria" panose="02040503050406030204" pitchFamily="18" charset="0"/>
              </a:rPr>
              <a:t>Where as one hot encoding takes a column which has categorical data, which has been label encoded and then splits the column into multiple columns. The numbers are replaced by 1s and 0s, depending on which column has what value. </a:t>
            </a:r>
          </a:p>
          <a:p>
            <a:endParaRPr lang="en-US" dirty="0"/>
          </a:p>
        </p:txBody>
      </p:sp>
    </p:spTree>
    <p:extLst>
      <p:ext uri="{BB962C8B-B14F-4D97-AF65-F5344CB8AC3E}">
        <p14:creationId xmlns:p14="http://schemas.microsoft.com/office/powerpoint/2010/main" val="42850138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616531-A5FF-DFA3-6778-A6BDFD20976F}"/>
              </a:ext>
            </a:extLst>
          </p:cNvPr>
          <p:cNvPicPr>
            <a:picLocks noGrp="1" noChangeAspect="1"/>
          </p:cNvPicPr>
          <p:nvPr>
            <p:ph idx="1"/>
          </p:nvPr>
        </p:nvPicPr>
        <p:blipFill>
          <a:blip r:embed="rId2"/>
          <a:stretch>
            <a:fillRect/>
          </a:stretch>
        </p:blipFill>
        <p:spPr>
          <a:xfrm>
            <a:off x="3508686" y="1111250"/>
            <a:ext cx="2126628" cy="3394075"/>
          </a:xfrm>
        </p:spPr>
      </p:pic>
      <p:sp>
        <p:nvSpPr>
          <p:cNvPr id="3" name="Title 2">
            <a:extLst>
              <a:ext uri="{FF2B5EF4-FFF2-40B4-BE49-F238E27FC236}">
                <a16:creationId xmlns:a16="http://schemas.microsoft.com/office/drawing/2014/main" id="{AC98F1C3-DF3E-733B-3759-4C09E0C84A7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7306146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7A6F-5167-4CA9-ACF2-14A960267F60}"/>
              </a:ext>
            </a:extLst>
          </p:cNvPr>
          <p:cNvSpPr>
            <a:spLocks noGrp="1"/>
          </p:cNvSpPr>
          <p:nvPr>
            <p:ph type="title"/>
          </p:nvPr>
        </p:nvSpPr>
        <p:spPr>
          <a:xfrm>
            <a:off x="3581400" y="1276350"/>
            <a:ext cx="2057400" cy="609600"/>
          </a:xfrm>
        </p:spPr>
        <p:txBody>
          <a:bodyPr>
            <a:normAutofit fontScale="90000"/>
          </a:bodyPr>
          <a:lstStyle/>
          <a:p>
            <a:r>
              <a:rPr lang="en-US" sz="3200" b="1" dirty="0">
                <a:solidFill>
                  <a:srgbClr val="002060"/>
                </a:solidFill>
                <a:latin typeface="Cambria" panose="02040503050406030204" pitchFamily="18" charset="0"/>
                <a:ea typeface="Cambria" panose="02040503050406030204" pitchFamily="18" charset="0"/>
              </a:rPr>
              <a:t>Thank You </a:t>
            </a:r>
            <a:br>
              <a:rPr lang="en-US" sz="3200" b="1" dirty="0">
                <a:solidFill>
                  <a:srgbClr val="002060"/>
                </a:solidFill>
                <a:latin typeface="Cambria" panose="02040503050406030204" pitchFamily="18" charset="0"/>
                <a:ea typeface="Cambria" panose="02040503050406030204" pitchFamily="18" charset="0"/>
              </a:rPr>
            </a:br>
            <a:endParaRPr lang="en-US" sz="3200" b="1" dirty="0">
              <a:solidFill>
                <a:srgbClr val="002060"/>
              </a:solidFill>
              <a:latin typeface="Cambria" panose="02040503050406030204" pitchFamily="18" charset="0"/>
              <a:ea typeface="Cambria" panose="02040503050406030204" pitchFamily="18" charset="0"/>
            </a:endParaRPr>
          </a:p>
        </p:txBody>
      </p:sp>
    </p:spTree>
    <p:custDataLst>
      <p:tags r:id="rId1"/>
    </p:custDataLst>
    <p:extLst>
      <p:ext uri="{BB962C8B-B14F-4D97-AF65-F5344CB8AC3E}">
        <p14:creationId xmlns:p14="http://schemas.microsoft.com/office/powerpoint/2010/main" val="46344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6951</TotalTime>
  <Words>1431</Words>
  <Application>Microsoft Office PowerPoint</Application>
  <PresentationFormat>On-screen Show (16:9)</PresentationFormat>
  <Paragraphs>155</Paragraphs>
  <Slides>45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Arial Unicode MS</vt:lpstr>
      <vt:lpstr>Calibri</vt:lpstr>
      <vt:lpstr>Cambria</vt:lpstr>
      <vt:lpstr>Courier New</vt:lpstr>
      <vt:lpstr>Verdana</vt:lpstr>
      <vt:lpstr>Wingdings</vt:lpstr>
      <vt:lpstr>Wingdings 2</vt:lpstr>
      <vt:lpstr>Wingdings 3</vt:lpstr>
      <vt:lpstr>Concourse</vt:lpstr>
      <vt:lpstr>       </vt:lpstr>
      <vt:lpstr>PowerPoint Presentation</vt:lpstr>
      <vt:lpstr>Handling Missing Values</vt:lpstr>
      <vt:lpstr>Missing Values</vt:lpstr>
      <vt:lpstr>Feature Scaling</vt:lpstr>
      <vt:lpstr>What is Feature Scaling?</vt:lpstr>
      <vt:lpstr>Why Feature scaling??</vt:lpstr>
      <vt:lpstr>     Why is feature scaling important ?    ?</vt:lpstr>
      <vt:lpstr>Feature Scaling Techniques</vt:lpstr>
      <vt:lpstr>Standardization</vt:lpstr>
      <vt:lpstr> What is z-standardization? </vt:lpstr>
      <vt:lpstr> Example of z-standardization </vt:lpstr>
      <vt:lpstr>PowerPoint Presentation</vt:lpstr>
      <vt:lpstr>PowerPoint Presentation</vt:lpstr>
      <vt:lpstr>PowerPoint Presentation</vt:lpstr>
      <vt:lpstr>PowerPoint Presentation</vt:lpstr>
      <vt:lpstr>PowerPoint Presentation</vt:lpstr>
      <vt:lpstr> Z-score Formula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Example to calculate the z-score value</vt:lpstr>
      <vt:lpstr>PowerPoint Presentation</vt:lpstr>
      <vt:lpstr>Implementation in Python</vt:lpstr>
      <vt:lpstr>PowerPoint Presentation</vt:lpstr>
      <vt:lpstr>Normalization</vt:lpstr>
      <vt:lpstr>Min-Max scaler</vt:lpstr>
      <vt:lpstr>PowerPoint Presentation</vt:lpstr>
      <vt:lpstr>Normalized Dataset</vt:lpstr>
      <vt:lpstr>PowerPoint Presentation</vt:lpstr>
      <vt:lpstr>When to use Standardization and Normalization?</vt:lpstr>
      <vt:lpstr>Best to use standardization when: </vt:lpstr>
      <vt:lpstr>Best to use Normalization when: </vt:lpstr>
      <vt:lpstr>PowerPoint Presentation</vt:lpstr>
      <vt:lpstr>Why is it important to know the difference between Normalization and Standardization? </vt:lpstr>
      <vt:lpstr>Binarization</vt:lpstr>
      <vt:lpstr>Label encoder and One hot encoding</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Cdac noida</dc:creator>
  <cp:lastModifiedBy>pgfebdbda@dcservices.in</cp:lastModifiedBy>
  <cp:revision>514</cp:revision>
  <dcterms:created xsi:type="dcterms:W3CDTF">2020-10-07T12:27:13Z</dcterms:created>
  <dcterms:modified xsi:type="dcterms:W3CDTF">2025-12-09T04:06:44Z</dcterms:modified>
</cp:coreProperties>
</file>